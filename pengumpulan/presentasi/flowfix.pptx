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FlowFix adalah ide platform administrasi kampus berbantuan AI. Fokus awalnya adalah pengajuan magang. Kami ingin membantu mahasiswa mengetahui apa yang perlu diperbaiki dan membantu peninjau menemukan bukti dengan lebih mudah. Pada tahap ini, yang diajukan adalah rancangan solusi dan rencana validasinya.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 yang dipilih adalah kesalahan pengajuan yang bisa dicegah dan revisi yang sulit diterjemahkan menjadi tindakan. Mahasiswa, staf, serta dosen mengalami bagian yang berbeda dari proses yang sama. Sumber ITS memberi konteks keterbatasan layanan administrasi, sedangkan panduan BINUS memperlihatkan alur permohonan dan statusnya. Keduanya belum membuktikan kebutuhan khusus terhadap FlowFix; masalah lokal akan dipelajari lewat wawancara.</a:t>
            </a:r>
          </a:p>
          <a:p/>
          <a:p>
            <a:r>
              <a:t>Referensi:</a:t>
            </a:r>
          </a:p>
          <a:p>
            <a:r>
              <a:t>https://www.its.ac.id/teknik-komputer-its-kembangkan-sakai-chatbot-whatsapp-berbasis-ai-untuk-permudah-layanan-administrasi-mahasiswa/</a:t>
            </a:r>
          </a:p>
          <a:p>
            <a:r>
              <a:t>https://support.binus.ac.id/718-168438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FlowFix menghubungkan pemeriksaan awal, ringkasan untuk peninjau, dan pemulihan revisi dalam satu riwayat pengajuan. Administrator mengatur formulir dan persyaratan layanan. Mahasiswa tetap memeriksa temuan, menyetujui koreksi, dan mengirim sendiri pengajuannya. Keputusan akhir ada pada staf atau dosen yang berwenang.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Ilustrasi konsep ini memakai surat yang diperbarui setelah pengajuan pertama. Artinya, bukti baru memang belum tersedia ketika pemeriksaan awal dilakukan. Recovery Agent menghubungkan komentar peninjau dengan tanggal pada formulir dan sumber perubahan. Usulannya harus ditinjau mahasiswa, diperiksa ulang, lalu dikirim kembali. Nilai inovasinya terletak pada hubungan antara pencegahan, koreksi berbasis bukti, dan mesin layanan yang dapat digunakan ulang. Ini bukan hasil analisis dari aplikasi yang sudah berjalan.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Langflow mengatur tiga proses AI: pemeriksaan awal, ringkasan, dan pemulihan revisi. Bob membantu pengembang membuat kode integrasi dan mengujinya. Hubungan langsung keduanya direncanakan melalui MCP: Bob mengirim kasus sintetis ke alat yang disediakan Langflow dan menerima analisis untuk dievaluasi. Pengembang meninjau perbaikan. Ketika digunakan mahasiswa, backend memanggil Langflow melalui API, memvalidasi keluaran, dan mengendalikan tindakan yang memerlukan persetujuan. Koneksi ini masih merupakan rencana. Dokumentasi teknis mendukung mekanismenya, bukan bukti bahwa integrasi FlowFix sudah selesai.</a:t>
            </a:r>
          </a:p>
          <a:p/>
          <a:p>
            <a:r>
              <a:t>Referensi:</a:t>
            </a:r>
          </a:p>
          <a:p>
            <a:r>
              <a:t>https://docs.langflow.org/mcp-server</a:t>
            </a:r>
          </a:p>
          <a:p>
            <a:r>
              <a:t>https://bob.ibm.com/docs/ide/configuration/mcp/mcp-in-bob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pada slide ini adalah target awal evaluasi. Kami ingin menurunkan median waktu aktif mahasiswa dan peninjau masing-masing minimal 20 persen, serta mencapai minimal 80 persen keberhasilan revisi pada pengiriman ulang pertama. Ketepatan keputusan tetap harus dijaga. Pengujian menggunakan tugas setara, data sintetis, dan pelaporan kegagalan. Perlindungan pengguna mencakup bukti yang jelas, persetujuan manusia, pemisahan akses, dan jalur manual saat AI tidak dapat memastikan hasil. Kontrol ini masih direncanakan.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Calon pelanggan awal adalah institusi atau unit administrasi yang bertanggung jawab atas layanan mahasiswa. Model pendapatan yang direncanakan berupa langganan berdasarkan jumlah layanan dan volume pengajuan, dengan biaya penyiapan bila diperlukan. Harga belum ditentukan. Perluasan dimulai dari magang, kemudian layanan sederhana melalui konfigurasi yang sama, lalu institusi lain dengan pemisahan data. Kelayakan bisnis perlu dibuktikan melalui manfaat, biaya AI dan dukungan, serta kesediaan membayar.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Langkah pertama adalah memvalidasi masalah bersama calon pengguna. Setelah itu, prototipe difokuskan pada alur magang lengkap dan satu layanan sederhana untuk menguji penggunaan ulang konfigurasi. Evaluasi mengukur manfaat sekaligus ketepatan AI, hak akses, dan aksesibilitas. Kami ingin membawa administrasi mahasiswa ke proses yang lebih jelas: kesalahan dapat ditemukan lebih awal dan revisi dapat diterjemahkan menjadi tindakan yang dipahami pengguna.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ts.ac.id/teknik-komputer-its-kembangkan-sakai-chatbot-whatsapp-berbasis-ai-untuk-permudah-layanan-administrasi-mahasiswa/" TargetMode="External"/><Relationship Id="rId3" Type="http://schemas.openxmlformats.org/officeDocument/2006/relationships/hyperlink" Target="https://support.binus.ac.id/718-168438" TargetMode="Externa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langflow.org/mcp-server" TargetMode="External"/><Relationship Id="rId3" Type="http://schemas.openxmlformats.org/officeDocument/2006/relationships/hyperlink" Target="https://bob.ibm.com/docs/ide/configuration/mcp/mcp-in-bob"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D36"/>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FFFFFF"/>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D4F36B"/>
                </a:solidFill>
                <a:latin typeface="Segoe UI"/>
              </a:rPr>
              <a:t>ADMINISTRASI KAMPUS BERBANTUAN AI</a:t>
            </a:r>
          </a:p>
        </p:txBody>
      </p:sp>
      <p:cxnSp>
        <p:nvCxnSpPr>
          <p:cNvPr id="4" name="Connector 3"/>
          <p:cNvCxnSpPr/>
          <p:nvPr/>
        </p:nvCxnSpPr>
        <p:spPr>
          <a:xfrm>
            <a:off x="609600" y="6261100"/>
            <a:ext cx="10972800" cy="0"/>
          </a:xfrm>
          <a:prstGeom prst="line">
            <a:avLst/>
          </a:prstGeom>
          <a:ln w="12700">
            <a:solidFill>
              <a:srgbClr val="3653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A9C0C2"/>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FFFFFF"/>
                </a:solidFill>
                <a:latin typeface="Segoe UI"/>
              </a:rPr>
              <a:t>01 / 08</a:t>
            </a:r>
          </a:p>
        </p:txBody>
      </p:sp>
      <p:sp>
        <p:nvSpPr>
          <p:cNvPr id="7" name="Rounded Rectangle 6"/>
          <p:cNvSpPr/>
          <p:nvPr/>
        </p:nvSpPr>
        <p:spPr>
          <a:xfrm>
            <a:off x="609600" y="1257300"/>
            <a:ext cx="1917700" cy="342900"/>
          </a:xfrm>
          <a:prstGeom prst="roundRect">
            <a:avLst>
              <a:gd name="adj" fmla="val 48148"/>
            </a:avLst>
          </a:prstGeom>
          <a:solidFill>
            <a:srgbClr val="D4F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900" y="1320800"/>
            <a:ext cx="16891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KONSEP PRODUK</a:t>
            </a:r>
          </a:p>
        </p:txBody>
      </p:sp>
      <p:sp>
        <p:nvSpPr>
          <p:cNvPr id="9" name="TextBox 8"/>
          <p:cNvSpPr txBox="1"/>
          <p:nvPr/>
        </p:nvSpPr>
        <p:spPr>
          <a:xfrm>
            <a:off x="558800" y="1917700"/>
            <a:ext cx="7112000" cy="1234948"/>
          </a:xfrm>
          <a:prstGeom prst="rect">
            <a:avLst/>
          </a:prstGeom>
          <a:noFill/>
        </p:spPr>
        <p:txBody>
          <a:bodyPr wrap="none" lIns="0" rIns="0" tIns="0" bIns="0" anchor="t">
            <a:spAutoFit/>
          </a:bodyPr>
          <a:lstStyle/>
          <a:p>
            <a:pPr algn="l">
              <a:lnSpc>
                <a:spcPts val="9424"/>
              </a:lnSpc>
              <a:spcBef>
                <a:spcPts val="0"/>
              </a:spcBef>
              <a:spcAft>
                <a:spcPts val="0"/>
              </a:spcAft>
            </a:pPr>
            <a:r>
              <a:rPr sz="7600" b="1">
                <a:solidFill>
                  <a:srgbClr val="FFFFFF"/>
                </a:solidFill>
                <a:latin typeface="Segoe UI"/>
              </a:rPr>
              <a:t>FlowFix</a:t>
            </a:r>
          </a:p>
        </p:txBody>
      </p:sp>
      <p:sp>
        <p:nvSpPr>
          <p:cNvPr id="10" name="TextBox 9"/>
          <p:cNvSpPr txBox="1"/>
          <p:nvPr/>
        </p:nvSpPr>
        <p:spPr>
          <a:xfrm>
            <a:off x="609600" y="3327400"/>
            <a:ext cx="7061200" cy="1108964"/>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FFFFFF"/>
                </a:solidFill>
                <a:latin typeface="Segoe UI"/>
              </a:rPr>
              <a:t>Revisi lebih jelas.</a:t>
            </a:r>
          </a:p>
          <a:p>
            <a:pPr algn="l">
              <a:lnSpc>
                <a:spcPts val="4216"/>
              </a:lnSpc>
              <a:spcBef>
                <a:spcPts val="0"/>
              </a:spcBef>
              <a:spcAft>
                <a:spcPts val="0"/>
              </a:spcAft>
            </a:pPr>
            <a:r>
              <a:rPr sz="3400" b="1">
                <a:solidFill>
                  <a:srgbClr val="FFFFFF"/>
                </a:solidFill>
                <a:latin typeface="Segoe UI"/>
              </a:rPr>
              <a:t>Administrasi lebih lancar.</a:t>
            </a:r>
          </a:p>
        </p:txBody>
      </p:sp>
      <p:sp>
        <p:nvSpPr>
          <p:cNvPr id="11" name="TextBox 10"/>
          <p:cNvSpPr txBox="1"/>
          <p:nvPr/>
        </p:nvSpPr>
        <p:spPr>
          <a:xfrm>
            <a:off x="609600" y="4648200"/>
            <a:ext cx="6959600" cy="605028"/>
          </a:xfrm>
          <a:prstGeom prst="rect">
            <a:avLst/>
          </a:prstGeom>
          <a:noFill/>
        </p:spPr>
        <p:txBody>
          <a:bodyPr wrap="none" lIns="0" rIns="0" tIns="0" bIns="0" anchor="t">
            <a:spAutoFit/>
          </a:bodyPr>
          <a:lstStyle/>
          <a:p>
            <a:pPr algn="l">
              <a:lnSpc>
                <a:spcPts val="2232"/>
              </a:lnSpc>
              <a:spcBef>
                <a:spcPts val="0"/>
              </a:spcBef>
              <a:spcAft>
                <a:spcPts val="0"/>
              </a:spcAft>
            </a:pPr>
            <a:r>
              <a:rPr sz="1800" b="0">
                <a:solidFill>
                  <a:srgbClr val="BDD3D1"/>
                </a:solidFill>
                <a:latin typeface="Segoe UI"/>
              </a:rPr>
              <a:t>Satu alur untuk mencegah kesalahan,</a:t>
            </a:r>
          </a:p>
          <a:p>
            <a:pPr algn="l">
              <a:lnSpc>
                <a:spcPts val="2232"/>
              </a:lnSpc>
              <a:spcBef>
                <a:spcPts val="0"/>
              </a:spcBef>
              <a:spcAft>
                <a:spcPts val="0"/>
              </a:spcAft>
            </a:pPr>
            <a:r>
              <a:rPr sz="1800" b="0">
                <a:solidFill>
                  <a:srgbClr val="BDD3D1"/>
                </a:solidFill>
                <a:latin typeface="Segoe UI"/>
              </a:rPr>
              <a:t>membantu pemeriksaan, dan menuntaskan revisi.</a:t>
            </a:r>
          </a:p>
        </p:txBody>
      </p:sp>
      <p:sp>
        <p:nvSpPr>
          <p:cNvPr id="12" name="Rounded Rectangle 11"/>
          <p:cNvSpPr/>
          <p:nvPr/>
        </p:nvSpPr>
        <p:spPr>
          <a:xfrm>
            <a:off x="8204200" y="1803400"/>
            <a:ext cx="3378200" cy="1066800"/>
          </a:xfrm>
          <a:prstGeom prst="roundRect">
            <a:avLst>
              <a:gd name="adj" fmla="val 14285"/>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700" y="2019300"/>
            <a:ext cx="4826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D4F36B"/>
                </a:solidFill>
                <a:latin typeface="Segoe UI"/>
              </a:rPr>
              <a:t>01</a:t>
            </a:r>
          </a:p>
        </p:txBody>
      </p:sp>
      <p:sp>
        <p:nvSpPr>
          <p:cNvPr id="14" name="TextBox 13"/>
          <p:cNvSpPr txBox="1"/>
          <p:nvPr/>
        </p:nvSpPr>
        <p:spPr>
          <a:xfrm>
            <a:off x="8991600" y="1968500"/>
            <a:ext cx="2349500" cy="384556"/>
          </a:xfrm>
          <a:prstGeom prst="rect">
            <a:avLst/>
          </a:prstGeom>
          <a:noFill/>
        </p:spPr>
        <p:txBody>
          <a:bodyPr wrap="none" lIns="0" rIns="0" tIns="0" bIns="0" anchor="t">
            <a:spAutoFit/>
          </a:bodyPr>
          <a:lstStyle/>
          <a:p>
            <a:pPr algn="l">
              <a:lnSpc>
                <a:spcPts val="2728"/>
              </a:lnSpc>
              <a:spcBef>
                <a:spcPts val="0"/>
              </a:spcBef>
              <a:spcAft>
                <a:spcPts val="0"/>
              </a:spcAft>
            </a:pPr>
            <a:r>
              <a:rPr sz="2200" b="1">
                <a:solidFill>
                  <a:srgbClr val="FFFFFF"/>
                </a:solidFill>
                <a:latin typeface="Segoe UI"/>
              </a:rPr>
              <a:t>Cegah</a:t>
            </a:r>
          </a:p>
        </p:txBody>
      </p:sp>
      <p:sp>
        <p:nvSpPr>
          <p:cNvPr id="15" name="TextBox 14"/>
          <p:cNvSpPr txBox="1"/>
          <p:nvPr/>
        </p:nvSpPr>
        <p:spPr>
          <a:xfrm>
            <a:off x="8991600" y="2400300"/>
            <a:ext cx="2413000" cy="227076"/>
          </a:xfrm>
          <a:prstGeom prst="rect">
            <a:avLst/>
          </a:prstGeom>
          <a:noFill/>
        </p:spPr>
        <p:txBody>
          <a:bodyPr wrap="none" lIns="0" rIns="0" tIns="0" bIns="0" anchor="t">
            <a:spAutoFit/>
          </a:bodyPr>
          <a:lstStyle/>
          <a:p>
            <a:pPr algn="l">
              <a:lnSpc>
                <a:spcPts val="1488"/>
              </a:lnSpc>
              <a:spcBef>
                <a:spcPts val="0"/>
              </a:spcBef>
              <a:spcAft>
                <a:spcPts val="0"/>
              </a:spcAft>
            </a:pPr>
            <a:r>
              <a:rPr sz="1200" b="0">
                <a:solidFill>
                  <a:srgbClr val="BDD3D1"/>
                </a:solidFill>
                <a:latin typeface="Segoe UI"/>
              </a:rPr>
              <a:t>Periksa sebelum dikirim</a:t>
            </a:r>
          </a:p>
        </p:txBody>
      </p:sp>
      <p:sp>
        <p:nvSpPr>
          <p:cNvPr id="16" name="Rounded Rectangle 15"/>
          <p:cNvSpPr/>
          <p:nvPr/>
        </p:nvSpPr>
        <p:spPr>
          <a:xfrm>
            <a:off x="8204200" y="3098800"/>
            <a:ext cx="3378200" cy="1066800"/>
          </a:xfrm>
          <a:prstGeom prst="roundRect">
            <a:avLst>
              <a:gd name="adj" fmla="val 14285"/>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700" y="3314700"/>
            <a:ext cx="4826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D4F36B"/>
                </a:solidFill>
                <a:latin typeface="Segoe UI"/>
              </a:rPr>
              <a:t>02</a:t>
            </a:r>
          </a:p>
        </p:txBody>
      </p:sp>
      <p:sp>
        <p:nvSpPr>
          <p:cNvPr id="18" name="TextBox 17"/>
          <p:cNvSpPr txBox="1"/>
          <p:nvPr/>
        </p:nvSpPr>
        <p:spPr>
          <a:xfrm>
            <a:off x="8991600" y="3263900"/>
            <a:ext cx="2349500" cy="384556"/>
          </a:xfrm>
          <a:prstGeom prst="rect">
            <a:avLst/>
          </a:prstGeom>
          <a:noFill/>
        </p:spPr>
        <p:txBody>
          <a:bodyPr wrap="none" lIns="0" rIns="0" tIns="0" bIns="0" anchor="t">
            <a:spAutoFit/>
          </a:bodyPr>
          <a:lstStyle/>
          <a:p>
            <a:pPr algn="l">
              <a:lnSpc>
                <a:spcPts val="2728"/>
              </a:lnSpc>
              <a:spcBef>
                <a:spcPts val="0"/>
              </a:spcBef>
              <a:spcAft>
                <a:spcPts val="0"/>
              </a:spcAft>
            </a:pPr>
            <a:r>
              <a:rPr sz="2200" b="1">
                <a:solidFill>
                  <a:srgbClr val="FFFFFF"/>
                </a:solidFill>
                <a:latin typeface="Segoe UI"/>
              </a:rPr>
              <a:t>Tinjau</a:t>
            </a:r>
          </a:p>
        </p:txBody>
      </p:sp>
      <p:sp>
        <p:nvSpPr>
          <p:cNvPr id="19" name="TextBox 18"/>
          <p:cNvSpPr txBox="1"/>
          <p:nvPr/>
        </p:nvSpPr>
        <p:spPr>
          <a:xfrm>
            <a:off x="8991600" y="3695700"/>
            <a:ext cx="2413000" cy="227076"/>
          </a:xfrm>
          <a:prstGeom prst="rect">
            <a:avLst/>
          </a:prstGeom>
          <a:noFill/>
        </p:spPr>
        <p:txBody>
          <a:bodyPr wrap="none" lIns="0" rIns="0" tIns="0" bIns="0" anchor="t">
            <a:spAutoFit/>
          </a:bodyPr>
          <a:lstStyle/>
          <a:p>
            <a:pPr algn="l">
              <a:lnSpc>
                <a:spcPts val="1488"/>
              </a:lnSpc>
              <a:spcBef>
                <a:spcPts val="0"/>
              </a:spcBef>
              <a:spcAft>
                <a:spcPts val="0"/>
              </a:spcAft>
            </a:pPr>
            <a:r>
              <a:rPr sz="1200" b="0">
                <a:solidFill>
                  <a:srgbClr val="BDD3D1"/>
                </a:solidFill>
                <a:latin typeface="Segoe UI"/>
              </a:rPr>
              <a:t>Baca ringkasan dan bukti</a:t>
            </a:r>
          </a:p>
        </p:txBody>
      </p:sp>
      <p:sp>
        <p:nvSpPr>
          <p:cNvPr id="20" name="Rounded Rectangle 19"/>
          <p:cNvSpPr/>
          <p:nvPr/>
        </p:nvSpPr>
        <p:spPr>
          <a:xfrm>
            <a:off x="8204200" y="4394200"/>
            <a:ext cx="3378200" cy="1066800"/>
          </a:xfrm>
          <a:prstGeom prst="roundRect">
            <a:avLst>
              <a:gd name="adj" fmla="val 14285"/>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700" y="4610100"/>
            <a:ext cx="4826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D4F36B"/>
                </a:solidFill>
                <a:latin typeface="Segoe UI"/>
              </a:rPr>
              <a:t>03</a:t>
            </a:r>
          </a:p>
        </p:txBody>
      </p:sp>
      <p:sp>
        <p:nvSpPr>
          <p:cNvPr id="22" name="TextBox 21"/>
          <p:cNvSpPr txBox="1"/>
          <p:nvPr/>
        </p:nvSpPr>
        <p:spPr>
          <a:xfrm>
            <a:off x="8991600" y="4559300"/>
            <a:ext cx="2349500" cy="384556"/>
          </a:xfrm>
          <a:prstGeom prst="rect">
            <a:avLst/>
          </a:prstGeom>
          <a:noFill/>
        </p:spPr>
        <p:txBody>
          <a:bodyPr wrap="none" lIns="0" rIns="0" tIns="0" bIns="0" anchor="t">
            <a:spAutoFit/>
          </a:bodyPr>
          <a:lstStyle/>
          <a:p>
            <a:pPr algn="l">
              <a:lnSpc>
                <a:spcPts val="2728"/>
              </a:lnSpc>
              <a:spcBef>
                <a:spcPts val="0"/>
              </a:spcBef>
              <a:spcAft>
                <a:spcPts val="0"/>
              </a:spcAft>
            </a:pPr>
            <a:r>
              <a:rPr sz="2200" b="1">
                <a:solidFill>
                  <a:srgbClr val="FFFFFF"/>
                </a:solidFill>
                <a:latin typeface="Segoe UI"/>
              </a:rPr>
              <a:t>Perbaiki</a:t>
            </a:r>
          </a:p>
        </p:txBody>
      </p:sp>
      <p:sp>
        <p:nvSpPr>
          <p:cNvPr id="23" name="TextBox 22"/>
          <p:cNvSpPr txBox="1"/>
          <p:nvPr/>
        </p:nvSpPr>
        <p:spPr>
          <a:xfrm>
            <a:off x="8991600" y="4991100"/>
            <a:ext cx="2413000" cy="227076"/>
          </a:xfrm>
          <a:prstGeom prst="rect">
            <a:avLst/>
          </a:prstGeom>
          <a:noFill/>
        </p:spPr>
        <p:txBody>
          <a:bodyPr wrap="none" lIns="0" rIns="0" tIns="0" bIns="0" anchor="t">
            <a:spAutoFit/>
          </a:bodyPr>
          <a:lstStyle/>
          <a:p>
            <a:pPr algn="l">
              <a:lnSpc>
                <a:spcPts val="1488"/>
              </a:lnSpc>
              <a:spcBef>
                <a:spcPts val="0"/>
              </a:spcBef>
              <a:spcAft>
                <a:spcPts val="0"/>
              </a:spcAft>
            </a:pPr>
            <a:r>
              <a:rPr sz="1200" b="0">
                <a:solidFill>
                  <a:srgbClr val="BDD3D1"/>
                </a:solidFill>
                <a:latin typeface="Segoe UI"/>
              </a:rPr>
              <a:t>Pahami langkah koreksi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MASALAH &amp; PENGGUNA</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02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Revisi yang tidak jelas</a:t>
            </a:r>
          </a:p>
          <a:p>
            <a:pPr algn="l">
              <a:lnSpc>
                <a:spcPts val="4216"/>
              </a:lnSpc>
              <a:spcBef>
                <a:spcPts val="0"/>
              </a:spcBef>
              <a:spcAft>
                <a:spcPts val="0"/>
              </a:spcAft>
            </a:pPr>
            <a:r>
              <a:rPr sz="3400" b="1">
                <a:solidFill>
                  <a:srgbClr val="102D36"/>
                </a:solidFill>
                <a:latin typeface="Segoe UI"/>
              </a:rPr>
              <a:t>membuat proses berulang.</a:t>
            </a:r>
          </a:p>
        </p:txBody>
      </p:sp>
      <p:sp>
        <p:nvSpPr>
          <p:cNvPr id="8" name="Rounded Rectangle 7"/>
          <p:cNvSpPr/>
          <p:nvPr/>
        </p:nvSpPr>
        <p:spPr>
          <a:xfrm>
            <a:off x="609600" y="2387600"/>
            <a:ext cx="3505200" cy="2679700"/>
          </a:xfrm>
          <a:prstGeom prst="roundRect">
            <a:avLst>
              <a:gd name="adj" fmla="val 56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600" y="2603500"/>
            <a:ext cx="7620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087F75"/>
                </a:solidFill>
                <a:latin typeface="Segoe UI"/>
              </a:rPr>
              <a:t>01</a:t>
            </a:r>
          </a:p>
        </p:txBody>
      </p:sp>
      <p:sp>
        <p:nvSpPr>
          <p:cNvPr id="10" name="TextBox 9"/>
          <p:cNvSpPr txBox="1"/>
          <p:nvPr/>
        </p:nvSpPr>
        <p:spPr>
          <a:xfrm>
            <a:off x="863600" y="3035300"/>
            <a:ext cx="2997200" cy="400304"/>
          </a:xfrm>
          <a:prstGeom prst="rect">
            <a:avLst/>
          </a:prstGeom>
          <a:noFill/>
        </p:spPr>
        <p:txBody>
          <a:bodyPr wrap="none" lIns="0" rIns="0" tIns="0" bIns="0" anchor="t">
            <a:spAutoFit/>
          </a:bodyPr>
          <a:lstStyle/>
          <a:p>
            <a:pPr algn="l">
              <a:lnSpc>
                <a:spcPts val="2852"/>
              </a:lnSpc>
              <a:spcBef>
                <a:spcPts val="0"/>
              </a:spcBef>
              <a:spcAft>
                <a:spcPts val="0"/>
              </a:spcAft>
            </a:pPr>
            <a:r>
              <a:rPr sz="2300" b="1">
                <a:solidFill>
                  <a:srgbClr val="102D36"/>
                </a:solidFill>
                <a:latin typeface="Segoe UI"/>
              </a:rPr>
              <a:t>Mahasiswa</a:t>
            </a:r>
          </a:p>
        </p:txBody>
      </p:sp>
      <p:sp>
        <p:nvSpPr>
          <p:cNvPr id="11" name="TextBox 10"/>
          <p:cNvSpPr txBox="1"/>
          <p:nvPr/>
        </p:nvSpPr>
        <p:spPr>
          <a:xfrm>
            <a:off x="863600" y="3619500"/>
            <a:ext cx="2997200" cy="13335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Harus mencocokkan formulir,</a:t>
            </a:r>
          </a:p>
          <a:p>
            <a:pPr algn="l">
              <a:lnSpc>
                <a:spcPts val="1984"/>
              </a:lnSpc>
              <a:spcBef>
                <a:spcPts val="0"/>
              </a:spcBef>
              <a:spcAft>
                <a:spcPts val="0"/>
              </a:spcAft>
            </a:pPr>
            <a:r>
              <a:rPr sz="1600" b="0">
                <a:solidFill>
                  <a:srgbClr val="51666B"/>
                </a:solidFill>
                <a:latin typeface="Segoe UI"/>
              </a:rPr>
              <a:t>dokumen, dan aturan. Komentar</a:t>
            </a:r>
          </a:p>
          <a:p>
            <a:pPr algn="l">
              <a:lnSpc>
                <a:spcPts val="1984"/>
              </a:lnSpc>
              <a:spcBef>
                <a:spcPts val="0"/>
              </a:spcBef>
              <a:spcAft>
                <a:spcPts val="0"/>
              </a:spcAft>
            </a:pPr>
            <a:r>
              <a:rPr sz="1600" b="0">
                <a:solidFill>
                  <a:srgbClr val="51666B"/>
                </a:solidFill>
                <a:latin typeface="Segoe UI"/>
              </a:rPr>
              <a:t>revisi belum tentu menjelaskan</a:t>
            </a:r>
          </a:p>
          <a:p>
            <a:pPr algn="l">
              <a:lnSpc>
                <a:spcPts val="1984"/>
              </a:lnSpc>
              <a:spcBef>
                <a:spcPts val="0"/>
              </a:spcBef>
              <a:spcAft>
                <a:spcPts val="0"/>
              </a:spcAft>
            </a:pPr>
            <a:r>
              <a:rPr sz="1600" b="0">
                <a:solidFill>
                  <a:srgbClr val="51666B"/>
                </a:solidFill>
                <a:latin typeface="Segoe UI"/>
              </a:rPr>
              <a:t>tindakan koreksi.</a:t>
            </a:r>
          </a:p>
        </p:txBody>
      </p:sp>
      <p:sp>
        <p:nvSpPr>
          <p:cNvPr id="12" name="Rounded Rectangle 11"/>
          <p:cNvSpPr/>
          <p:nvPr/>
        </p:nvSpPr>
        <p:spPr>
          <a:xfrm>
            <a:off x="4343400" y="2387600"/>
            <a:ext cx="3505200" cy="2679700"/>
          </a:xfrm>
          <a:prstGeom prst="roundRect">
            <a:avLst>
              <a:gd name="adj" fmla="val 56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400" y="2603500"/>
            <a:ext cx="7620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087F75"/>
                </a:solidFill>
                <a:latin typeface="Segoe UI"/>
              </a:rPr>
              <a:t>02</a:t>
            </a:r>
          </a:p>
        </p:txBody>
      </p:sp>
      <p:sp>
        <p:nvSpPr>
          <p:cNvPr id="14" name="TextBox 13"/>
          <p:cNvSpPr txBox="1"/>
          <p:nvPr/>
        </p:nvSpPr>
        <p:spPr>
          <a:xfrm>
            <a:off x="4597400" y="3035300"/>
            <a:ext cx="2997200" cy="400304"/>
          </a:xfrm>
          <a:prstGeom prst="rect">
            <a:avLst/>
          </a:prstGeom>
          <a:noFill/>
        </p:spPr>
        <p:txBody>
          <a:bodyPr wrap="none" lIns="0" rIns="0" tIns="0" bIns="0" anchor="t">
            <a:spAutoFit/>
          </a:bodyPr>
          <a:lstStyle/>
          <a:p>
            <a:pPr algn="l">
              <a:lnSpc>
                <a:spcPts val="2852"/>
              </a:lnSpc>
              <a:spcBef>
                <a:spcPts val="0"/>
              </a:spcBef>
              <a:spcAft>
                <a:spcPts val="0"/>
              </a:spcAft>
            </a:pPr>
            <a:r>
              <a:rPr sz="2300" b="1">
                <a:solidFill>
                  <a:srgbClr val="102D36"/>
                </a:solidFill>
                <a:latin typeface="Segoe UI"/>
              </a:rPr>
              <a:t>Staf &amp; dosen</a:t>
            </a:r>
          </a:p>
        </p:txBody>
      </p:sp>
      <p:sp>
        <p:nvSpPr>
          <p:cNvPr id="15" name="TextBox 14"/>
          <p:cNvSpPr txBox="1"/>
          <p:nvPr/>
        </p:nvSpPr>
        <p:spPr>
          <a:xfrm>
            <a:off x="4597400" y="3619500"/>
            <a:ext cx="2997200" cy="13335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Memeriksa ulang informasi yang</a:t>
            </a:r>
          </a:p>
          <a:p>
            <a:pPr algn="l">
              <a:lnSpc>
                <a:spcPts val="1984"/>
              </a:lnSpc>
              <a:spcBef>
                <a:spcPts val="0"/>
              </a:spcBef>
              <a:spcAft>
                <a:spcPts val="0"/>
              </a:spcAft>
            </a:pPr>
            <a:r>
              <a:rPr sz="1600" b="0">
                <a:solidFill>
                  <a:srgbClr val="51666B"/>
                </a:solidFill>
                <a:latin typeface="Segoe UI"/>
              </a:rPr>
              <a:t>sama dan menjelaskan</a:t>
            </a:r>
          </a:p>
          <a:p>
            <a:pPr algn="l">
              <a:lnSpc>
                <a:spcPts val="1984"/>
              </a:lnSpc>
              <a:spcBef>
                <a:spcPts val="0"/>
              </a:spcBef>
              <a:spcAft>
                <a:spcPts val="0"/>
              </a:spcAft>
            </a:pPr>
            <a:r>
              <a:rPr sz="1600" b="0">
                <a:solidFill>
                  <a:srgbClr val="51666B"/>
                </a:solidFill>
                <a:latin typeface="Segoe UI"/>
              </a:rPr>
              <a:t>kekurangan pada pengajuan.</a:t>
            </a:r>
          </a:p>
        </p:txBody>
      </p:sp>
      <p:sp>
        <p:nvSpPr>
          <p:cNvPr id="16" name="Rounded Rectangle 15"/>
          <p:cNvSpPr/>
          <p:nvPr/>
        </p:nvSpPr>
        <p:spPr>
          <a:xfrm>
            <a:off x="8077200" y="2387600"/>
            <a:ext cx="3505200" cy="2679700"/>
          </a:xfrm>
          <a:prstGeom prst="roundRect">
            <a:avLst>
              <a:gd name="adj" fmla="val 56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1200" y="2603500"/>
            <a:ext cx="762000" cy="258572"/>
          </a:xfrm>
          <a:prstGeom prst="rect">
            <a:avLst/>
          </a:prstGeom>
          <a:noFill/>
        </p:spPr>
        <p:txBody>
          <a:bodyPr wrap="none" lIns="0" rIns="0" tIns="0" bIns="0" anchor="t">
            <a:spAutoFit/>
          </a:bodyPr>
          <a:lstStyle/>
          <a:p>
            <a:pPr algn="l">
              <a:lnSpc>
                <a:spcPts val="1736"/>
              </a:lnSpc>
              <a:spcBef>
                <a:spcPts val="0"/>
              </a:spcBef>
              <a:spcAft>
                <a:spcPts val="0"/>
              </a:spcAft>
            </a:pPr>
            <a:r>
              <a:rPr sz="1400" b="1">
                <a:solidFill>
                  <a:srgbClr val="087F75"/>
                </a:solidFill>
                <a:latin typeface="Segoe UI"/>
              </a:rPr>
              <a:t>03</a:t>
            </a:r>
          </a:p>
        </p:txBody>
      </p:sp>
      <p:sp>
        <p:nvSpPr>
          <p:cNvPr id="18" name="TextBox 17"/>
          <p:cNvSpPr txBox="1"/>
          <p:nvPr/>
        </p:nvSpPr>
        <p:spPr>
          <a:xfrm>
            <a:off x="8331200" y="3035300"/>
            <a:ext cx="2997200" cy="400304"/>
          </a:xfrm>
          <a:prstGeom prst="rect">
            <a:avLst/>
          </a:prstGeom>
          <a:noFill/>
        </p:spPr>
        <p:txBody>
          <a:bodyPr wrap="none" lIns="0" rIns="0" tIns="0" bIns="0" anchor="t">
            <a:spAutoFit/>
          </a:bodyPr>
          <a:lstStyle/>
          <a:p>
            <a:pPr algn="l">
              <a:lnSpc>
                <a:spcPts val="2852"/>
              </a:lnSpc>
              <a:spcBef>
                <a:spcPts val="0"/>
              </a:spcBef>
              <a:spcAft>
                <a:spcPts val="0"/>
              </a:spcAft>
            </a:pPr>
            <a:r>
              <a:rPr sz="2300" b="1">
                <a:solidFill>
                  <a:srgbClr val="102D36"/>
                </a:solidFill>
                <a:latin typeface="Segoe UI"/>
              </a:rPr>
              <a:t>Pengelola layanan</a:t>
            </a:r>
          </a:p>
        </p:txBody>
      </p:sp>
      <p:sp>
        <p:nvSpPr>
          <p:cNvPr id="19" name="TextBox 18"/>
          <p:cNvSpPr txBox="1"/>
          <p:nvPr/>
        </p:nvSpPr>
        <p:spPr>
          <a:xfrm>
            <a:off x="8331200" y="3619500"/>
            <a:ext cx="2997200" cy="13335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Menjaga persyaratan tetap</a:t>
            </a:r>
          </a:p>
          <a:p>
            <a:pPr algn="l">
              <a:lnSpc>
                <a:spcPts val="1984"/>
              </a:lnSpc>
              <a:spcBef>
                <a:spcPts val="0"/>
              </a:spcBef>
              <a:spcAft>
                <a:spcPts val="0"/>
              </a:spcAft>
            </a:pPr>
            <a:r>
              <a:rPr sz="1600" b="0">
                <a:solidFill>
                  <a:srgbClr val="51666B"/>
                </a:solidFill>
                <a:latin typeface="Segoe UI"/>
              </a:rPr>
              <a:t>konsisten serta menelusuri</a:t>
            </a:r>
          </a:p>
          <a:p>
            <a:pPr algn="l">
              <a:lnSpc>
                <a:spcPts val="1984"/>
              </a:lnSpc>
              <a:spcBef>
                <a:spcPts val="0"/>
              </a:spcBef>
              <a:spcAft>
                <a:spcPts val="0"/>
              </a:spcAft>
            </a:pPr>
            <a:r>
              <a:rPr sz="1600" b="0">
                <a:solidFill>
                  <a:srgbClr val="51666B"/>
                </a:solidFill>
                <a:latin typeface="Segoe UI"/>
              </a:rPr>
              <a:t>status dan riwayat pengajuan.</a:t>
            </a:r>
          </a:p>
        </p:txBody>
      </p:sp>
      <p:sp>
        <p:nvSpPr>
          <p:cNvPr id="20" name="Rounded Rectangle 19"/>
          <p:cNvSpPr/>
          <p:nvPr/>
        </p:nvSpPr>
        <p:spPr>
          <a:xfrm>
            <a:off x="609600" y="5372100"/>
            <a:ext cx="1625600" cy="342900"/>
          </a:xfrm>
          <a:prstGeom prst="roundRect">
            <a:avLst>
              <a:gd name="adj" fmla="val 48148"/>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5435600"/>
            <a:ext cx="13970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087F75"/>
                </a:solidFill>
                <a:latin typeface="Segoe UI"/>
              </a:rPr>
              <a:t>FOKUS AWAL</a:t>
            </a:r>
          </a:p>
        </p:txBody>
      </p:sp>
      <p:sp>
        <p:nvSpPr>
          <p:cNvPr id="22" name="TextBox 21"/>
          <p:cNvSpPr txBox="1"/>
          <p:nvPr/>
        </p:nvSpPr>
        <p:spPr>
          <a:xfrm>
            <a:off x="2425700" y="5422900"/>
            <a:ext cx="9144000" cy="274320"/>
          </a:xfrm>
          <a:prstGeom prst="rect">
            <a:avLst/>
          </a:prstGeom>
          <a:noFill/>
        </p:spPr>
        <p:txBody>
          <a:bodyPr wrap="none" lIns="0" rIns="0" tIns="0" bIns="0" anchor="t">
            <a:spAutoFit/>
          </a:bodyPr>
          <a:lstStyle/>
          <a:p>
            <a:pPr algn="l">
              <a:lnSpc>
                <a:spcPts val="1860"/>
              </a:lnSpc>
              <a:spcBef>
                <a:spcPts val="0"/>
              </a:spcBef>
              <a:spcAft>
                <a:spcPts val="0"/>
              </a:spcAft>
            </a:pPr>
            <a:r>
              <a:rPr sz="1500" b="0">
                <a:solidFill>
                  <a:srgbClr val="102D36"/>
                </a:solidFill>
                <a:latin typeface="Segoe UI"/>
              </a:rPr>
              <a:t>Administrasi magang pada satu program studi atau departemen.</a:t>
            </a:r>
          </a:p>
        </p:txBody>
      </p:sp>
      <p:sp>
        <p:nvSpPr>
          <p:cNvPr id="23" name="TextBox 22"/>
          <p:cNvSpPr txBox="1"/>
          <p:nvPr/>
        </p:nvSpPr>
        <p:spPr>
          <a:xfrm>
            <a:off x="609600" y="5918200"/>
            <a:ext cx="22225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087F75"/>
                </a:solidFill>
                <a:latin typeface="Segoe UI"/>
                <a:hlinkClick r:id="rId2"/>
              </a:rPr>
              <a:t>Konteks: ITS / SAKAI</a:t>
            </a:r>
          </a:p>
        </p:txBody>
      </p:sp>
      <p:sp>
        <p:nvSpPr>
          <p:cNvPr id="24" name="TextBox 23"/>
          <p:cNvSpPr txBox="1"/>
          <p:nvPr/>
        </p:nvSpPr>
        <p:spPr>
          <a:xfrm>
            <a:off x="2921000" y="5918200"/>
            <a:ext cx="2413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087F75"/>
                </a:solidFill>
                <a:latin typeface="Segoe UI"/>
                <a:hlinkClick r:id="rId3"/>
              </a:rPr>
              <a:t>BINUS / Student Request</a:t>
            </a:r>
          </a:p>
        </p:txBody>
      </p:sp>
      <p:sp>
        <p:nvSpPr>
          <p:cNvPr id="25" name="TextBox 24"/>
          <p:cNvSpPr txBox="1"/>
          <p:nvPr/>
        </p:nvSpPr>
        <p:spPr>
          <a:xfrm>
            <a:off x="7086600" y="5905500"/>
            <a:ext cx="4483100" cy="195580"/>
          </a:xfrm>
          <a:prstGeom prst="rect">
            <a:avLst/>
          </a:prstGeom>
          <a:noFill/>
        </p:spPr>
        <p:txBody>
          <a:bodyPr wrap="none" lIns="0" rIns="0" tIns="0" bIns="0" anchor="t">
            <a:spAutoFit/>
          </a:bodyPr>
          <a:lstStyle/>
          <a:p>
            <a:pPr algn="ctr">
              <a:lnSpc>
                <a:spcPts val="1240"/>
              </a:lnSpc>
              <a:spcBef>
                <a:spcPts val="0"/>
              </a:spcBef>
              <a:spcAft>
                <a:spcPts val="0"/>
              </a:spcAft>
            </a:pPr>
            <a:r>
              <a:rPr sz="1000" b="0">
                <a:solidFill>
                  <a:srgbClr val="51666B"/>
                </a:solidFill>
                <a:latin typeface="Segoe UI"/>
              </a:rPr>
              <a:t>Besaran masalah lokal akan divalidasi.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SOLUSI &amp; FITUR</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03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Bantuan pada setiap tahap pengajuan.</a:t>
            </a:r>
          </a:p>
        </p:txBody>
      </p:sp>
      <p:sp>
        <p:nvSpPr>
          <p:cNvPr id="8" name="Rounded Rectangle 7"/>
          <p:cNvSpPr/>
          <p:nvPr/>
        </p:nvSpPr>
        <p:spPr>
          <a:xfrm>
            <a:off x="609600" y="2184400"/>
            <a:ext cx="3505200" cy="3098800"/>
          </a:xfrm>
          <a:prstGeom prst="roundRect">
            <a:avLst>
              <a:gd name="adj" fmla="val 491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600" y="2413000"/>
            <a:ext cx="1143000" cy="573532"/>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087F75"/>
                </a:solidFill>
                <a:latin typeface="Segoe UI"/>
              </a:rPr>
              <a:t>01</a:t>
            </a:r>
          </a:p>
        </p:txBody>
      </p:sp>
      <p:sp>
        <p:nvSpPr>
          <p:cNvPr id="10" name="TextBox 9"/>
          <p:cNvSpPr txBox="1"/>
          <p:nvPr/>
        </p:nvSpPr>
        <p:spPr>
          <a:xfrm>
            <a:off x="863600" y="3111500"/>
            <a:ext cx="30226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Pemeriksaan awal</a:t>
            </a:r>
          </a:p>
        </p:txBody>
      </p:sp>
      <p:sp>
        <p:nvSpPr>
          <p:cNvPr id="11" name="TextBox 10"/>
          <p:cNvSpPr txBox="1"/>
          <p:nvPr/>
        </p:nvSpPr>
        <p:spPr>
          <a:xfrm>
            <a:off x="863600" y="3606800"/>
            <a:ext cx="2984500" cy="11938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Temukan kekurangan dan</a:t>
            </a:r>
          </a:p>
          <a:p>
            <a:pPr algn="l">
              <a:lnSpc>
                <a:spcPts val="1984"/>
              </a:lnSpc>
              <a:spcBef>
                <a:spcPts val="0"/>
              </a:spcBef>
              <a:spcAft>
                <a:spcPts val="0"/>
              </a:spcAft>
            </a:pPr>
            <a:r>
              <a:rPr sz="1600" b="0">
                <a:solidFill>
                  <a:srgbClr val="51666B"/>
                </a:solidFill>
                <a:latin typeface="Segoe UI"/>
              </a:rPr>
              <a:t>ketidaksesuaian terhadap</a:t>
            </a:r>
          </a:p>
          <a:p>
            <a:pPr algn="l">
              <a:lnSpc>
                <a:spcPts val="1984"/>
              </a:lnSpc>
              <a:spcBef>
                <a:spcPts val="0"/>
              </a:spcBef>
              <a:spcAft>
                <a:spcPts val="0"/>
              </a:spcAft>
            </a:pPr>
            <a:r>
              <a:rPr sz="1600" b="0">
                <a:solidFill>
                  <a:srgbClr val="51666B"/>
                </a:solidFill>
                <a:latin typeface="Segoe UI"/>
              </a:rPr>
              <a:t>persyaratan sebelum pengajuan</a:t>
            </a:r>
          </a:p>
          <a:p>
            <a:pPr algn="l">
              <a:lnSpc>
                <a:spcPts val="1984"/>
              </a:lnSpc>
              <a:spcBef>
                <a:spcPts val="0"/>
              </a:spcBef>
              <a:spcAft>
                <a:spcPts val="0"/>
              </a:spcAft>
            </a:pPr>
            <a:r>
              <a:rPr sz="1600" b="0">
                <a:solidFill>
                  <a:srgbClr val="51666B"/>
                </a:solidFill>
                <a:latin typeface="Segoe UI"/>
              </a:rPr>
              <a:t>dikirim.</a:t>
            </a:r>
          </a:p>
        </p:txBody>
      </p:sp>
      <p:sp>
        <p:nvSpPr>
          <p:cNvPr id="12" name="TextBox 11"/>
          <p:cNvSpPr txBox="1"/>
          <p:nvPr/>
        </p:nvSpPr>
        <p:spPr>
          <a:xfrm>
            <a:off x="863600" y="4940300"/>
            <a:ext cx="2984500" cy="195580"/>
          </a:xfrm>
          <a:prstGeom prst="rect">
            <a:avLst/>
          </a:prstGeom>
          <a:noFill/>
        </p:spPr>
        <p:txBody>
          <a:bodyPr wrap="none" lIns="0" rIns="0" tIns="0" bIns="0" anchor="t">
            <a:spAutoFit/>
          </a:bodyPr>
          <a:lstStyle/>
          <a:p>
            <a:pPr algn="l">
              <a:lnSpc>
                <a:spcPts val="1240"/>
              </a:lnSpc>
              <a:spcBef>
                <a:spcPts val="0"/>
              </a:spcBef>
              <a:spcAft>
                <a:spcPts val="0"/>
              </a:spcAft>
            </a:pPr>
            <a:r>
              <a:rPr sz="1000" b="1">
                <a:solidFill>
                  <a:srgbClr val="087F75"/>
                </a:solidFill>
                <a:latin typeface="Segoe UI"/>
              </a:rPr>
              <a:t>CEGAH KESALAHAN</a:t>
            </a:r>
          </a:p>
        </p:txBody>
      </p:sp>
      <p:sp>
        <p:nvSpPr>
          <p:cNvPr id="13" name="Rounded Rectangle 12"/>
          <p:cNvSpPr/>
          <p:nvPr/>
        </p:nvSpPr>
        <p:spPr>
          <a:xfrm>
            <a:off x="4343400" y="2184400"/>
            <a:ext cx="3505200" cy="3098800"/>
          </a:xfrm>
          <a:prstGeom prst="roundRect">
            <a:avLst>
              <a:gd name="adj" fmla="val 491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400" y="2413000"/>
            <a:ext cx="1143000" cy="573532"/>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087F75"/>
                </a:solidFill>
                <a:latin typeface="Segoe UI"/>
              </a:rPr>
              <a:t>02</a:t>
            </a:r>
          </a:p>
        </p:txBody>
      </p:sp>
      <p:sp>
        <p:nvSpPr>
          <p:cNvPr id="15" name="TextBox 14"/>
          <p:cNvSpPr txBox="1"/>
          <p:nvPr/>
        </p:nvSpPr>
        <p:spPr>
          <a:xfrm>
            <a:off x="4597400" y="3111500"/>
            <a:ext cx="30226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Ringkasan peninjau</a:t>
            </a:r>
          </a:p>
        </p:txBody>
      </p:sp>
      <p:sp>
        <p:nvSpPr>
          <p:cNvPr id="16" name="TextBox 15"/>
          <p:cNvSpPr txBox="1"/>
          <p:nvPr/>
        </p:nvSpPr>
        <p:spPr>
          <a:xfrm>
            <a:off x="4597400" y="3606800"/>
            <a:ext cx="2984500" cy="11938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Tampilkan fakta penting, sumber</a:t>
            </a:r>
          </a:p>
          <a:p>
            <a:pPr algn="l">
              <a:lnSpc>
                <a:spcPts val="1984"/>
              </a:lnSpc>
              <a:spcBef>
                <a:spcPts val="0"/>
              </a:spcBef>
              <a:spcAft>
                <a:spcPts val="0"/>
              </a:spcAft>
            </a:pPr>
            <a:r>
              <a:rPr sz="1600" b="0">
                <a:solidFill>
                  <a:srgbClr val="51666B"/>
                </a:solidFill>
                <a:latin typeface="Segoe UI"/>
              </a:rPr>
              <a:t>dokumen, dan hal yang masih</a:t>
            </a:r>
          </a:p>
          <a:p>
            <a:pPr algn="l">
              <a:lnSpc>
                <a:spcPts val="1984"/>
              </a:lnSpc>
              <a:spcBef>
                <a:spcPts val="0"/>
              </a:spcBef>
              <a:spcAft>
                <a:spcPts val="0"/>
              </a:spcAft>
            </a:pPr>
            <a:r>
              <a:rPr sz="1600" b="0">
                <a:solidFill>
                  <a:srgbClr val="51666B"/>
                </a:solidFill>
                <a:latin typeface="Segoe UI"/>
              </a:rPr>
              <a:t>perlu diverifikasi.</a:t>
            </a:r>
          </a:p>
        </p:txBody>
      </p:sp>
      <p:sp>
        <p:nvSpPr>
          <p:cNvPr id="17" name="TextBox 16"/>
          <p:cNvSpPr txBox="1"/>
          <p:nvPr/>
        </p:nvSpPr>
        <p:spPr>
          <a:xfrm>
            <a:off x="4597400" y="4940300"/>
            <a:ext cx="2984500" cy="195580"/>
          </a:xfrm>
          <a:prstGeom prst="rect">
            <a:avLst/>
          </a:prstGeom>
          <a:noFill/>
        </p:spPr>
        <p:txBody>
          <a:bodyPr wrap="none" lIns="0" rIns="0" tIns="0" bIns="0" anchor="t">
            <a:spAutoFit/>
          </a:bodyPr>
          <a:lstStyle/>
          <a:p>
            <a:pPr algn="l">
              <a:lnSpc>
                <a:spcPts val="1240"/>
              </a:lnSpc>
              <a:spcBef>
                <a:spcPts val="0"/>
              </a:spcBef>
              <a:spcAft>
                <a:spcPts val="0"/>
              </a:spcAft>
            </a:pPr>
            <a:r>
              <a:rPr sz="1000" b="1">
                <a:solidFill>
                  <a:srgbClr val="087F75"/>
                </a:solidFill>
                <a:latin typeface="Segoe UI"/>
              </a:rPr>
              <a:t>PERJELAS BUKTI</a:t>
            </a:r>
          </a:p>
        </p:txBody>
      </p:sp>
      <p:sp>
        <p:nvSpPr>
          <p:cNvPr id="18" name="Rounded Rectangle 17"/>
          <p:cNvSpPr/>
          <p:nvPr/>
        </p:nvSpPr>
        <p:spPr>
          <a:xfrm>
            <a:off x="8077200" y="2184400"/>
            <a:ext cx="3505200" cy="3098800"/>
          </a:xfrm>
          <a:prstGeom prst="roundRect">
            <a:avLst>
              <a:gd name="adj" fmla="val 491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1200" y="2413000"/>
            <a:ext cx="1143000" cy="573532"/>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087F75"/>
                </a:solidFill>
                <a:latin typeface="Segoe UI"/>
              </a:rPr>
              <a:t>03</a:t>
            </a:r>
          </a:p>
        </p:txBody>
      </p:sp>
      <p:sp>
        <p:nvSpPr>
          <p:cNvPr id="20" name="TextBox 19"/>
          <p:cNvSpPr txBox="1"/>
          <p:nvPr/>
        </p:nvSpPr>
        <p:spPr>
          <a:xfrm>
            <a:off x="8331200" y="3111500"/>
            <a:ext cx="30226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Recovery Agent</a:t>
            </a:r>
          </a:p>
        </p:txBody>
      </p:sp>
      <p:sp>
        <p:nvSpPr>
          <p:cNvPr id="21" name="TextBox 20"/>
          <p:cNvSpPr txBox="1"/>
          <p:nvPr/>
        </p:nvSpPr>
        <p:spPr>
          <a:xfrm>
            <a:off x="8331200" y="3606800"/>
            <a:ext cx="2984500" cy="1193800"/>
          </a:xfrm>
          <a:prstGeom prst="rect">
            <a:avLst/>
          </a:prstGeom>
          <a:noFill/>
        </p:spPr>
        <p:txBody>
          <a:bodyPr wrap="none" lIns="0" rIns="0" tIns="0" bIns="0" anchor="t">
            <a:spAutoFit/>
          </a:bodyPr>
          <a:lstStyle/>
          <a:p>
            <a:pPr algn="l">
              <a:lnSpc>
                <a:spcPts val="1984"/>
              </a:lnSpc>
              <a:spcBef>
                <a:spcPts val="0"/>
              </a:spcBef>
              <a:spcAft>
                <a:spcPts val="0"/>
              </a:spcAft>
            </a:pPr>
            <a:r>
              <a:rPr sz="1600" b="0">
                <a:solidFill>
                  <a:srgbClr val="51666B"/>
                </a:solidFill>
                <a:latin typeface="Segoe UI"/>
              </a:rPr>
              <a:t>Ubah komentar revisi menjadi</a:t>
            </a:r>
          </a:p>
          <a:p>
            <a:pPr algn="l">
              <a:lnSpc>
                <a:spcPts val="1984"/>
              </a:lnSpc>
              <a:spcBef>
                <a:spcPts val="0"/>
              </a:spcBef>
              <a:spcAft>
                <a:spcPts val="0"/>
              </a:spcAft>
            </a:pPr>
            <a:r>
              <a:rPr sz="1600" b="0">
                <a:solidFill>
                  <a:srgbClr val="51666B"/>
                </a:solidFill>
                <a:latin typeface="Segoe UI"/>
              </a:rPr>
              <a:t>usulan koreksi yang spesifik dan</a:t>
            </a:r>
          </a:p>
          <a:p>
            <a:pPr algn="l">
              <a:lnSpc>
                <a:spcPts val="1984"/>
              </a:lnSpc>
              <a:spcBef>
                <a:spcPts val="0"/>
              </a:spcBef>
              <a:spcAft>
                <a:spcPts val="0"/>
              </a:spcAft>
            </a:pPr>
            <a:r>
              <a:rPr sz="1600" b="0">
                <a:solidFill>
                  <a:srgbClr val="51666B"/>
                </a:solidFill>
                <a:latin typeface="Segoe UI"/>
              </a:rPr>
              <a:t>dapat ditinjau mahasiswa.</a:t>
            </a:r>
          </a:p>
        </p:txBody>
      </p:sp>
      <p:sp>
        <p:nvSpPr>
          <p:cNvPr id="22" name="TextBox 21"/>
          <p:cNvSpPr txBox="1"/>
          <p:nvPr/>
        </p:nvSpPr>
        <p:spPr>
          <a:xfrm>
            <a:off x="8331200" y="4940300"/>
            <a:ext cx="2984500" cy="195580"/>
          </a:xfrm>
          <a:prstGeom prst="rect">
            <a:avLst/>
          </a:prstGeom>
          <a:noFill/>
        </p:spPr>
        <p:txBody>
          <a:bodyPr wrap="none" lIns="0" rIns="0" tIns="0" bIns="0" anchor="t">
            <a:spAutoFit/>
          </a:bodyPr>
          <a:lstStyle/>
          <a:p>
            <a:pPr algn="l">
              <a:lnSpc>
                <a:spcPts val="1240"/>
              </a:lnSpc>
              <a:spcBef>
                <a:spcPts val="0"/>
              </a:spcBef>
              <a:spcAft>
                <a:spcPts val="0"/>
              </a:spcAft>
            </a:pPr>
            <a:r>
              <a:rPr sz="1000" b="1">
                <a:solidFill>
                  <a:srgbClr val="087F75"/>
                </a:solidFill>
                <a:latin typeface="Segoe UI"/>
              </a:rPr>
              <a:t>ARAHKAN PERBAIKAN</a:t>
            </a:r>
          </a:p>
        </p:txBody>
      </p:sp>
      <p:sp>
        <p:nvSpPr>
          <p:cNvPr id="23" name="Rounded Rectangle 22"/>
          <p:cNvSpPr/>
          <p:nvPr/>
        </p:nvSpPr>
        <p:spPr>
          <a:xfrm>
            <a:off x="609600" y="5524500"/>
            <a:ext cx="10972800" cy="508000"/>
          </a:xfrm>
          <a:prstGeom prst="roundRect">
            <a:avLst>
              <a:gd name="adj" fmla="val 22500"/>
            </a:avLst>
          </a:prstGeom>
          <a:solidFill>
            <a:srgbClr val="10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800" y="5651500"/>
            <a:ext cx="10566400" cy="274320"/>
          </a:xfrm>
          <a:prstGeom prst="rect">
            <a:avLst/>
          </a:prstGeom>
          <a:noFill/>
        </p:spPr>
        <p:txBody>
          <a:bodyPr wrap="none" lIns="0" rIns="0" tIns="0" bIns="0" anchor="t">
            <a:spAutoFit/>
          </a:bodyPr>
          <a:lstStyle/>
          <a:p>
            <a:pPr algn="ctr">
              <a:lnSpc>
                <a:spcPts val="1860"/>
              </a:lnSpc>
              <a:spcBef>
                <a:spcPts val="0"/>
              </a:spcBef>
              <a:spcAft>
                <a:spcPts val="0"/>
              </a:spcAft>
            </a:pPr>
            <a:r>
              <a:rPr sz="1500" b="0">
                <a:solidFill>
                  <a:srgbClr val="FFFFFF"/>
                </a:solidFill>
                <a:latin typeface="Segoe UI"/>
              </a:rPr>
              <a:t>Formulir &amp; aturan dapat dikonfigurasi • Status &amp; riwayat dapat ditelusuri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PEMBEDA UTAMA · ILUSTRASI KONSEP</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04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Dari komentar revisi</a:t>
            </a:r>
          </a:p>
          <a:p>
            <a:pPr algn="l">
              <a:lnSpc>
                <a:spcPts val="4216"/>
              </a:lnSpc>
              <a:spcBef>
                <a:spcPts val="0"/>
              </a:spcBef>
              <a:spcAft>
                <a:spcPts val="0"/>
              </a:spcAft>
            </a:pPr>
            <a:r>
              <a:rPr sz="3400" b="1">
                <a:solidFill>
                  <a:srgbClr val="102D36"/>
                </a:solidFill>
                <a:latin typeface="Segoe UI"/>
              </a:rPr>
              <a:t>ke tindakan yang spesifik.</a:t>
            </a:r>
          </a:p>
        </p:txBody>
      </p:sp>
      <p:sp>
        <p:nvSpPr>
          <p:cNvPr id="8" name="Rounded Rectangle 7"/>
          <p:cNvSpPr/>
          <p:nvPr/>
        </p:nvSpPr>
        <p:spPr>
          <a:xfrm>
            <a:off x="609600" y="2374900"/>
            <a:ext cx="3670300" cy="1422400"/>
          </a:xfrm>
          <a:prstGeom prst="roundRect">
            <a:avLst>
              <a:gd name="adj" fmla="val 10714"/>
            </a:avLst>
          </a:prstGeom>
          <a:solidFill>
            <a:srgbClr val="FA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2590800"/>
            <a:ext cx="3213100" cy="211328"/>
          </a:xfrm>
          <a:prstGeom prst="rect">
            <a:avLst/>
          </a:prstGeom>
          <a:noFill/>
        </p:spPr>
        <p:txBody>
          <a:bodyPr wrap="none" lIns="0" rIns="0" tIns="0" bIns="0" anchor="t">
            <a:spAutoFit/>
          </a:bodyPr>
          <a:lstStyle/>
          <a:p>
            <a:pPr algn="l">
              <a:lnSpc>
                <a:spcPts val="1364"/>
              </a:lnSpc>
              <a:spcBef>
                <a:spcPts val="0"/>
              </a:spcBef>
              <a:spcAft>
                <a:spcPts val="0"/>
              </a:spcAft>
            </a:pPr>
            <a:r>
              <a:rPr sz="1100" b="1">
                <a:solidFill>
                  <a:srgbClr val="D56648"/>
                </a:solidFill>
                <a:latin typeface="Segoe UI"/>
              </a:rPr>
              <a:t>KOMENTAR PENINJAU</a:t>
            </a:r>
          </a:p>
        </p:txBody>
      </p:sp>
      <p:sp>
        <p:nvSpPr>
          <p:cNvPr id="10" name="TextBox 9"/>
          <p:cNvSpPr txBox="1"/>
          <p:nvPr/>
        </p:nvSpPr>
        <p:spPr>
          <a:xfrm>
            <a:off x="838200" y="2997200"/>
            <a:ext cx="3213100" cy="668020"/>
          </a:xfrm>
          <a:prstGeom prst="rect">
            <a:avLst/>
          </a:prstGeom>
          <a:noFill/>
        </p:spPr>
        <p:txBody>
          <a:bodyPr wrap="none" lIns="0" rIns="0" tIns="0" bIns="0" anchor="t">
            <a:spAutoFit/>
          </a:bodyPr>
          <a:lstStyle/>
          <a:p>
            <a:pPr algn="l">
              <a:lnSpc>
                <a:spcPts val="2480"/>
              </a:lnSpc>
              <a:spcBef>
                <a:spcPts val="0"/>
              </a:spcBef>
              <a:spcAft>
                <a:spcPts val="0"/>
              </a:spcAft>
            </a:pPr>
            <a:r>
              <a:rPr sz="2000" b="1">
                <a:solidFill>
                  <a:srgbClr val="102D36"/>
                </a:solidFill>
                <a:latin typeface="Segoe UI"/>
              </a:rPr>
              <a:t>“Sesuaikan tanggal</a:t>
            </a:r>
          </a:p>
          <a:p>
            <a:pPr algn="l">
              <a:lnSpc>
                <a:spcPts val="2480"/>
              </a:lnSpc>
              <a:spcBef>
                <a:spcPts val="0"/>
              </a:spcBef>
              <a:spcAft>
                <a:spcPts val="0"/>
              </a:spcAft>
            </a:pPr>
            <a:r>
              <a:rPr sz="2000" b="1">
                <a:solidFill>
                  <a:srgbClr val="102D36"/>
                </a:solidFill>
                <a:latin typeface="Segoe UI"/>
              </a:rPr>
              <a:t>pada formulir.”</a:t>
            </a:r>
          </a:p>
        </p:txBody>
      </p:sp>
      <p:sp>
        <p:nvSpPr>
          <p:cNvPr id="11" name="Rounded Rectangle 10"/>
          <p:cNvSpPr/>
          <p:nvPr/>
        </p:nvSpPr>
        <p:spPr>
          <a:xfrm>
            <a:off x="609600" y="3987800"/>
            <a:ext cx="3670300" cy="1498600"/>
          </a:xfrm>
          <a:prstGeom prst="roundRect">
            <a:avLst>
              <a:gd name="adj" fmla="val 1016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4216400"/>
            <a:ext cx="3213100" cy="211328"/>
          </a:xfrm>
          <a:prstGeom prst="rect">
            <a:avLst/>
          </a:prstGeom>
          <a:noFill/>
        </p:spPr>
        <p:txBody>
          <a:bodyPr wrap="none" lIns="0" rIns="0" tIns="0" bIns="0" anchor="t">
            <a:spAutoFit/>
          </a:bodyPr>
          <a:lstStyle/>
          <a:p>
            <a:pPr algn="l">
              <a:lnSpc>
                <a:spcPts val="1364"/>
              </a:lnSpc>
              <a:spcBef>
                <a:spcPts val="0"/>
              </a:spcBef>
              <a:spcAft>
                <a:spcPts val="0"/>
              </a:spcAft>
            </a:pPr>
            <a:r>
              <a:rPr sz="1100" b="1">
                <a:solidFill>
                  <a:srgbClr val="087F75"/>
                </a:solidFill>
                <a:latin typeface="Segoe UI"/>
              </a:rPr>
              <a:t>BUKTI BARU</a:t>
            </a:r>
          </a:p>
        </p:txBody>
      </p:sp>
      <p:sp>
        <p:nvSpPr>
          <p:cNvPr id="13" name="TextBox 12"/>
          <p:cNvSpPr txBox="1"/>
          <p:nvPr/>
        </p:nvSpPr>
        <p:spPr>
          <a:xfrm>
            <a:off x="838200" y="4559300"/>
            <a:ext cx="3213100" cy="605028"/>
          </a:xfrm>
          <a:prstGeom prst="rect">
            <a:avLst/>
          </a:prstGeom>
          <a:noFill/>
        </p:spPr>
        <p:txBody>
          <a:bodyPr wrap="none" lIns="0" rIns="0" tIns="0" bIns="0" anchor="t">
            <a:spAutoFit/>
          </a:bodyPr>
          <a:lstStyle/>
          <a:p>
            <a:pPr algn="l">
              <a:lnSpc>
                <a:spcPts val="2232"/>
              </a:lnSpc>
              <a:spcBef>
                <a:spcPts val="0"/>
              </a:spcBef>
              <a:spcAft>
                <a:spcPts val="0"/>
              </a:spcAft>
            </a:pPr>
            <a:r>
              <a:rPr sz="1800" b="0">
                <a:solidFill>
                  <a:srgbClr val="51666B"/>
                </a:solidFill>
                <a:latin typeface="Segoe UI"/>
              </a:rPr>
              <a:t>Surat diperbarui setelah</a:t>
            </a:r>
          </a:p>
          <a:p>
            <a:pPr algn="l">
              <a:lnSpc>
                <a:spcPts val="2232"/>
              </a:lnSpc>
              <a:spcBef>
                <a:spcPts val="0"/>
              </a:spcBef>
              <a:spcAft>
                <a:spcPts val="0"/>
              </a:spcAft>
            </a:pPr>
            <a:r>
              <a:rPr sz="1800" b="0">
                <a:solidFill>
                  <a:srgbClr val="51666B"/>
                </a:solidFill>
                <a:latin typeface="Segoe UI"/>
              </a:rPr>
              <a:t>pengajuan awal.</a:t>
            </a:r>
          </a:p>
        </p:txBody>
      </p:sp>
      <p:cxnSp>
        <p:nvCxnSpPr>
          <p:cNvPr id="14" name="Connector 13"/>
          <p:cNvCxnSpPr/>
          <p:nvPr/>
        </p:nvCxnSpPr>
        <p:spPr>
          <a:xfrm>
            <a:off x="4457700" y="3835400"/>
            <a:ext cx="4445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826000" y="37846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826000" y="38354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05400" y="2374900"/>
            <a:ext cx="6477000" cy="3111500"/>
          </a:xfrm>
          <a:prstGeom prst="roundRect">
            <a:avLst>
              <a:gd name="adj" fmla="val 4897"/>
            </a:avLst>
          </a:prstGeom>
          <a:solidFill>
            <a:srgbClr val="10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84800" y="2641600"/>
            <a:ext cx="5842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D4F36B"/>
                </a:solidFill>
                <a:latin typeface="Segoe UI"/>
              </a:rPr>
              <a:t>USULAN RECOVERY AGENT</a:t>
            </a:r>
          </a:p>
        </p:txBody>
      </p:sp>
      <p:sp>
        <p:nvSpPr>
          <p:cNvPr id="19" name="TextBox 18"/>
          <p:cNvSpPr txBox="1"/>
          <p:nvPr/>
        </p:nvSpPr>
        <p:spPr>
          <a:xfrm>
            <a:off x="5384800" y="3111500"/>
            <a:ext cx="5842000" cy="416052"/>
          </a:xfrm>
          <a:prstGeom prst="rect">
            <a:avLst/>
          </a:prstGeom>
          <a:noFill/>
        </p:spPr>
        <p:txBody>
          <a:bodyPr wrap="none" lIns="0" rIns="0" tIns="0" bIns="0" anchor="t">
            <a:spAutoFit/>
          </a:bodyPr>
          <a:lstStyle/>
          <a:p>
            <a:pPr algn="l">
              <a:lnSpc>
                <a:spcPts val="2976"/>
              </a:lnSpc>
              <a:spcBef>
                <a:spcPts val="0"/>
              </a:spcBef>
              <a:spcAft>
                <a:spcPts val="0"/>
              </a:spcAft>
            </a:pPr>
            <a:r>
              <a:rPr sz="2400" b="1">
                <a:solidFill>
                  <a:srgbClr val="FFFFFF"/>
                </a:solidFill>
                <a:latin typeface="Segoe UI"/>
              </a:rPr>
              <a:t>Tanggal mulai magang</a:t>
            </a:r>
          </a:p>
        </p:txBody>
      </p:sp>
      <p:sp>
        <p:nvSpPr>
          <p:cNvPr id="20" name="TextBox 19"/>
          <p:cNvSpPr txBox="1"/>
          <p:nvPr/>
        </p:nvSpPr>
        <p:spPr>
          <a:xfrm>
            <a:off x="5397500" y="3644900"/>
            <a:ext cx="2336800" cy="416052"/>
          </a:xfrm>
          <a:prstGeom prst="rect">
            <a:avLst/>
          </a:prstGeom>
          <a:noFill/>
        </p:spPr>
        <p:txBody>
          <a:bodyPr wrap="none" lIns="0" rIns="0" tIns="0" bIns="0" anchor="t">
            <a:spAutoFit/>
          </a:bodyPr>
          <a:lstStyle/>
          <a:p>
            <a:pPr algn="l">
              <a:lnSpc>
                <a:spcPts val="2976"/>
              </a:lnSpc>
              <a:spcBef>
                <a:spcPts val="0"/>
              </a:spcBef>
              <a:spcAft>
                <a:spcPts val="0"/>
              </a:spcAft>
            </a:pPr>
            <a:r>
              <a:rPr sz="2400" b="0">
                <a:solidFill>
                  <a:srgbClr val="C0D1D1"/>
                </a:solidFill>
                <a:latin typeface="Segoe UI"/>
              </a:rPr>
              <a:t>Januari 2027</a:t>
            </a:r>
          </a:p>
        </p:txBody>
      </p:sp>
      <p:cxnSp>
        <p:nvCxnSpPr>
          <p:cNvPr id="21" name="Connector 20"/>
          <p:cNvCxnSpPr/>
          <p:nvPr/>
        </p:nvCxnSpPr>
        <p:spPr>
          <a:xfrm>
            <a:off x="7670800" y="3860800"/>
            <a:ext cx="482600" cy="0"/>
          </a:xfrm>
          <a:prstGeom prst="line">
            <a:avLst/>
          </a:prstGeom>
          <a:ln w="22860">
            <a:solidFill>
              <a:srgbClr val="D4F36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77200" y="3810000"/>
            <a:ext cx="76200" cy="50800"/>
          </a:xfrm>
          <a:prstGeom prst="line">
            <a:avLst/>
          </a:prstGeom>
          <a:ln w="22860">
            <a:solidFill>
              <a:srgbClr val="D4F36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077200" y="3860800"/>
            <a:ext cx="76200" cy="50800"/>
          </a:xfrm>
          <a:prstGeom prst="line">
            <a:avLst/>
          </a:prstGeom>
          <a:ln w="22860">
            <a:solidFill>
              <a:srgbClr val="D4F36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356600" y="3644900"/>
            <a:ext cx="2921000" cy="416052"/>
          </a:xfrm>
          <a:prstGeom prst="rect">
            <a:avLst/>
          </a:prstGeom>
          <a:noFill/>
        </p:spPr>
        <p:txBody>
          <a:bodyPr wrap="none" lIns="0" rIns="0" tIns="0" bIns="0" anchor="t">
            <a:spAutoFit/>
          </a:bodyPr>
          <a:lstStyle/>
          <a:p>
            <a:pPr algn="l">
              <a:lnSpc>
                <a:spcPts val="2976"/>
              </a:lnSpc>
              <a:spcBef>
                <a:spcPts val="0"/>
              </a:spcBef>
              <a:spcAft>
                <a:spcPts val="0"/>
              </a:spcAft>
            </a:pPr>
            <a:r>
              <a:rPr sz="2400" b="1">
                <a:solidFill>
                  <a:srgbClr val="D4F36B"/>
                </a:solidFill>
                <a:latin typeface="Segoe UI"/>
              </a:rPr>
              <a:t>Februari 2027</a:t>
            </a:r>
          </a:p>
        </p:txBody>
      </p:sp>
      <p:sp>
        <p:nvSpPr>
          <p:cNvPr id="25" name="TextBox 24"/>
          <p:cNvSpPr txBox="1"/>
          <p:nvPr/>
        </p:nvSpPr>
        <p:spPr>
          <a:xfrm>
            <a:off x="5384800" y="4292600"/>
            <a:ext cx="5842000" cy="274320"/>
          </a:xfrm>
          <a:prstGeom prst="rect">
            <a:avLst/>
          </a:prstGeom>
          <a:noFill/>
        </p:spPr>
        <p:txBody>
          <a:bodyPr wrap="none" lIns="0" rIns="0" tIns="0" bIns="0" anchor="t">
            <a:spAutoFit/>
          </a:bodyPr>
          <a:lstStyle/>
          <a:p>
            <a:pPr algn="l">
              <a:lnSpc>
                <a:spcPts val="1860"/>
              </a:lnSpc>
              <a:spcBef>
                <a:spcPts val="0"/>
              </a:spcBef>
              <a:spcAft>
                <a:spcPts val="0"/>
              </a:spcAft>
            </a:pPr>
            <a:r>
              <a:rPr sz="1500" b="0">
                <a:solidFill>
                  <a:srgbClr val="BDD3D1"/>
                </a:solidFill>
                <a:latin typeface="Segoe UI"/>
              </a:rPr>
              <a:t>Sumber: surat terbaru, halaman 1</a:t>
            </a:r>
          </a:p>
        </p:txBody>
      </p:sp>
      <p:sp>
        <p:nvSpPr>
          <p:cNvPr id="26" name="Rounded Rectangle 25"/>
          <p:cNvSpPr/>
          <p:nvPr/>
        </p:nvSpPr>
        <p:spPr>
          <a:xfrm>
            <a:off x="5384800" y="4838700"/>
            <a:ext cx="1219200" cy="342900"/>
          </a:xfrm>
          <a:prstGeom prst="roundRect">
            <a:avLst>
              <a:gd name="adj" fmla="val 48148"/>
            </a:avLst>
          </a:prstGeom>
          <a:solidFill>
            <a:srgbClr val="D4F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99100" y="4902200"/>
            <a:ext cx="9906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Tinjau</a:t>
            </a:r>
          </a:p>
        </p:txBody>
      </p:sp>
      <p:sp>
        <p:nvSpPr>
          <p:cNvPr id="28" name="Rounded Rectangle 27"/>
          <p:cNvSpPr/>
          <p:nvPr/>
        </p:nvSpPr>
        <p:spPr>
          <a:xfrm>
            <a:off x="6769100" y="4838700"/>
            <a:ext cx="1879600" cy="342900"/>
          </a:xfrm>
          <a:prstGeom prst="roundRect">
            <a:avLst>
              <a:gd name="adj" fmla="val 48148"/>
            </a:avLst>
          </a:prstGeom>
          <a:solidFill>
            <a:srgbClr val="315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83400" y="4902200"/>
            <a:ext cx="16510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FFFFFF"/>
                </a:solidFill>
                <a:latin typeface="Segoe UI"/>
              </a:rPr>
              <a:t>Periksa ulang</a:t>
            </a:r>
          </a:p>
        </p:txBody>
      </p:sp>
      <p:sp>
        <p:nvSpPr>
          <p:cNvPr id="30" name="Rounded Rectangle 29"/>
          <p:cNvSpPr/>
          <p:nvPr/>
        </p:nvSpPr>
        <p:spPr>
          <a:xfrm>
            <a:off x="8813800" y="4838700"/>
            <a:ext cx="2413000" cy="342900"/>
          </a:xfrm>
          <a:prstGeom prst="roundRect">
            <a:avLst>
              <a:gd name="adj" fmla="val 48148"/>
            </a:avLst>
          </a:prstGeom>
          <a:solidFill>
            <a:srgbClr val="315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28100" y="4902200"/>
            <a:ext cx="2184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FFFFFF"/>
                </a:solidFill>
                <a:latin typeface="Segoe UI"/>
              </a:rPr>
              <a:t>Kirim kembali</a:t>
            </a:r>
          </a:p>
        </p:txBody>
      </p:sp>
      <p:sp>
        <p:nvSpPr>
          <p:cNvPr id="32" name="TextBox 31"/>
          <p:cNvSpPr txBox="1"/>
          <p:nvPr/>
        </p:nvSpPr>
        <p:spPr>
          <a:xfrm>
            <a:off x="609600" y="5740400"/>
            <a:ext cx="10972800" cy="242824"/>
          </a:xfrm>
          <a:prstGeom prst="rect">
            <a:avLst/>
          </a:prstGeom>
          <a:noFill/>
        </p:spPr>
        <p:txBody>
          <a:bodyPr wrap="none" lIns="0" rIns="0" tIns="0" bIns="0" anchor="t">
            <a:spAutoFit/>
          </a:bodyPr>
          <a:lstStyle/>
          <a:p>
            <a:pPr algn="ctr">
              <a:lnSpc>
                <a:spcPts val="1612"/>
              </a:lnSpc>
              <a:spcBef>
                <a:spcPts val="0"/>
              </a:spcBef>
              <a:spcAft>
                <a:spcPts val="0"/>
              </a:spcAft>
            </a:pPr>
            <a:r>
              <a:rPr sz="1300" b="1">
                <a:solidFill>
                  <a:srgbClr val="087F75"/>
                </a:solidFill>
                <a:latin typeface="Segoe UI"/>
              </a:rPr>
              <a:t>Pencegahan + pemulihan / Bukti yang dapat ditelusuri / Satu mesin, banyak layanan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INTEGRASI LANGFLOW + IBM BOB</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05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Terhubung saat pengembangan.</a:t>
            </a:r>
          </a:p>
          <a:p>
            <a:pPr algn="l">
              <a:lnSpc>
                <a:spcPts val="4216"/>
              </a:lnSpc>
              <a:spcBef>
                <a:spcPts val="0"/>
              </a:spcBef>
              <a:spcAft>
                <a:spcPts val="0"/>
              </a:spcAft>
            </a:pPr>
            <a:r>
              <a:rPr sz="3400" b="1">
                <a:solidFill>
                  <a:srgbClr val="102D36"/>
                </a:solidFill>
                <a:latin typeface="Segoe UI"/>
              </a:rPr>
              <a:t>Mendukung alur saat digunakan.</a:t>
            </a:r>
          </a:p>
        </p:txBody>
      </p:sp>
      <p:sp>
        <p:nvSpPr>
          <p:cNvPr id="8" name="Rounded Rectangle 7"/>
          <p:cNvSpPr/>
          <p:nvPr/>
        </p:nvSpPr>
        <p:spPr>
          <a:xfrm>
            <a:off x="609600" y="2362200"/>
            <a:ext cx="10972800" cy="167640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900" y="2552700"/>
            <a:ext cx="10033000" cy="211328"/>
          </a:xfrm>
          <a:prstGeom prst="rect">
            <a:avLst/>
          </a:prstGeom>
          <a:noFill/>
        </p:spPr>
        <p:txBody>
          <a:bodyPr wrap="none" lIns="0" rIns="0" tIns="0" bIns="0" anchor="t">
            <a:spAutoFit/>
          </a:bodyPr>
          <a:lstStyle/>
          <a:p>
            <a:pPr algn="l">
              <a:lnSpc>
                <a:spcPts val="1364"/>
              </a:lnSpc>
              <a:spcBef>
                <a:spcPts val="0"/>
              </a:spcBef>
              <a:spcAft>
                <a:spcPts val="0"/>
              </a:spcAft>
            </a:pPr>
            <a:r>
              <a:rPr sz="1100" b="1">
                <a:solidFill>
                  <a:srgbClr val="087F75"/>
                </a:solidFill>
                <a:latin typeface="Segoe UI"/>
              </a:rPr>
              <a:t>PENGEMBANGAN &amp; PENGUJIAN</a:t>
            </a:r>
          </a:p>
        </p:txBody>
      </p:sp>
      <p:sp>
        <p:nvSpPr>
          <p:cNvPr id="10" name="Rounded Rectangle 9"/>
          <p:cNvSpPr/>
          <p:nvPr/>
        </p:nvSpPr>
        <p:spPr>
          <a:xfrm>
            <a:off x="876300" y="2946400"/>
            <a:ext cx="2057400" cy="533400"/>
          </a:xfrm>
          <a:prstGeom prst="roundRect">
            <a:avLst>
              <a:gd name="adj" fmla="val 19047"/>
            </a:avLst>
          </a:prstGeom>
          <a:solidFill>
            <a:srgbClr val="10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7900" y="3073400"/>
            <a:ext cx="1854200" cy="305816"/>
          </a:xfrm>
          <a:prstGeom prst="rect">
            <a:avLst/>
          </a:prstGeom>
          <a:noFill/>
        </p:spPr>
        <p:txBody>
          <a:bodyPr wrap="none" lIns="0" rIns="0" tIns="0" bIns="0" anchor="t">
            <a:spAutoFit/>
          </a:bodyPr>
          <a:lstStyle/>
          <a:p>
            <a:pPr algn="ctr">
              <a:lnSpc>
                <a:spcPts val="2108"/>
              </a:lnSpc>
              <a:spcBef>
                <a:spcPts val="0"/>
              </a:spcBef>
              <a:spcAft>
                <a:spcPts val="0"/>
              </a:spcAft>
            </a:pPr>
            <a:r>
              <a:rPr sz="1700" b="1">
                <a:solidFill>
                  <a:srgbClr val="FFFFFF"/>
                </a:solidFill>
                <a:latin typeface="Segoe UI"/>
              </a:rPr>
              <a:t>IBM Bob</a:t>
            </a:r>
          </a:p>
        </p:txBody>
      </p:sp>
      <p:sp>
        <p:nvSpPr>
          <p:cNvPr id="12" name="Rounded Rectangle 11"/>
          <p:cNvSpPr/>
          <p:nvPr/>
        </p:nvSpPr>
        <p:spPr>
          <a:xfrm>
            <a:off x="3644900" y="2946400"/>
            <a:ext cx="1600200" cy="533400"/>
          </a:xfrm>
          <a:prstGeom prst="roundRect">
            <a:avLst>
              <a:gd name="adj" fmla="val 19047"/>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6500" y="3073400"/>
            <a:ext cx="1397000" cy="305816"/>
          </a:xfrm>
          <a:prstGeom prst="rect">
            <a:avLst/>
          </a:prstGeom>
          <a:noFill/>
        </p:spPr>
        <p:txBody>
          <a:bodyPr wrap="none" lIns="0" rIns="0" tIns="0" bIns="0" anchor="t">
            <a:spAutoFit/>
          </a:bodyPr>
          <a:lstStyle/>
          <a:p>
            <a:pPr algn="ctr">
              <a:lnSpc>
                <a:spcPts val="2108"/>
              </a:lnSpc>
              <a:spcBef>
                <a:spcPts val="0"/>
              </a:spcBef>
              <a:spcAft>
                <a:spcPts val="0"/>
              </a:spcAft>
            </a:pPr>
            <a:r>
              <a:rPr sz="1700" b="1">
                <a:solidFill>
                  <a:srgbClr val="087F75"/>
                </a:solidFill>
                <a:latin typeface="Segoe UI"/>
              </a:rPr>
              <a:t>MCP</a:t>
            </a:r>
          </a:p>
        </p:txBody>
      </p:sp>
      <p:sp>
        <p:nvSpPr>
          <p:cNvPr id="14" name="Rounded Rectangle 13"/>
          <p:cNvSpPr/>
          <p:nvPr/>
        </p:nvSpPr>
        <p:spPr>
          <a:xfrm>
            <a:off x="5956300" y="2946400"/>
            <a:ext cx="2108200" cy="533400"/>
          </a:xfrm>
          <a:prstGeom prst="roundRect">
            <a:avLst>
              <a:gd name="adj" fmla="val 19047"/>
            </a:avLst>
          </a:prstGeom>
          <a:solidFill>
            <a:srgbClr val="10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57900" y="3073400"/>
            <a:ext cx="1905000" cy="305816"/>
          </a:xfrm>
          <a:prstGeom prst="rect">
            <a:avLst/>
          </a:prstGeom>
          <a:noFill/>
        </p:spPr>
        <p:txBody>
          <a:bodyPr wrap="none" lIns="0" rIns="0" tIns="0" bIns="0" anchor="t">
            <a:spAutoFit/>
          </a:bodyPr>
          <a:lstStyle/>
          <a:p>
            <a:pPr algn="ctr">
              <a:lnSpc>
                <a:spcPts val="2108"/>
              </a:lnSpc>
              <a:spcBef>
                <a:spcPts val="0"/>
              </a:spcBef>
              <a:spcAft>
                <a:spcPts val="0"/>
              </a:spcAft>
            </a:pPr>
            <a:r>
              <a:rPr sz="1700" b="1">
                <a:solidFill>
                  <a:srgbClr val="FFFFFF"/>
                </a:solidFill>
                <a:latin typeface="Segoe UI"/>
              </a:rPr>
              <a:t>Langflow</a:t>
            </a:r>
          </a:p>
        </p:txBody>
      </p:sp>
      <p:sp>
        <p:nvSpPr>
          <p:cNvPr id="16" name="Rounded Rectangle 15"/>
          <p:cNvSpPr/>
          <p:nvPr/>
        </p:nvSpPr>
        <p:spPr>
          <a:xfrm>
            <a:off x="8750300" y="2946400"/>
            <a:ext cx="2565400" cy="533400"/>
          </a:xfrm>
          <a:prstGeom prst="roundRect">
            <a:avLst>
              <a:gd name="adj" fmla="val 19047"/>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51900" y="3073400"/>
            <a:ext cx="2362200" cy="305816"/>
          </a:xfrm>
          <a:prstGeom prst="rect">
            <a:avLst/>
          </a:prstGeom>
          <a:noFill/>
        </p:spPr>
        <p:txBody>
          <a:bodyPr wrap="none" lIns="0" rIns="0" tIns="0" bIns="0" anchor="t">
            <a:spAutoFit/>
          </a:bodyPr>
          <a:lstStyle/>
          <a:p>
            <a:pPr algn="ctr">
              <a:lnSpc>
                <a:spcPts val="2108"/>
              </a:lnSpc>
              <a:spcBef>
                <a:spcPts val="0"/>
              </a:spcBef>
              <a:spcAft>
                <a:spcPts val="0"/>
              </a:spcAft>
            </a:pPr>
            <a:r>
              <a:rPr sz="1700" b="1">
                <a:solidFill>
                  <a:srgbClr val="087F75"/>
                </a:solidFill>
                <a:latin typeface="Segoe UI"/>
              </a:rPr>
              <a:t>Hasil analisis</a:t>
            </a:r>
          </a:p>
        </p:txBody>
      </p:sp>
      <p:cxnSp>
        <p:nvCxnSpPr>
          <p:cNvPr id="18" name="Connector 17"/>
          <p:cNvCxnSpPr/>
          <p:nvPr/>
        </p:nvCxnSpPr>
        <p:spPr>
          <a:xfrm>
            <a:off x="3073400" y="3213100"/>
            <a:ext cx="4064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03600" y="3162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403600" y="3213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97500" y="3213100"/>
            <a:ext cx="3937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15000" y="3162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715000" y="3213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229600" y="3213100"/>
            <a:ext cx="3556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09000" y="3162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509000" y="3213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63600" y="3632200"/>
            <a:ext cx="10414000" cy="242824"/>
          </a:xfrm>
          <a:prstGeom prst="rect">
            <a:avLst/>
          </a:prstGeom>
          <a:noFill/>
        </p:spPr>
        <p:txBody>
          <a:bodyPr wrap="none" lIns="0" rIns="0" tIns="0" bIns="0" anchor="t">
            <a:spAutoFit/>
          </a:bodyPr>
          <a:lstStyle/>
          <a:p>
            <a:pPr algn="ctr">
              <a:lnSpc>
                <a:spcPts val="1612"/>
              </a:lnSpc>
              <a:spcBef>
                <a:spcPts val="0"/>
              </a:spcBef>
              <a:spcAft>
                <a:spcPts val="0"/>
              </a:spcAft>
            </a:pPr>
            <a:r>
              <a:rPr sz="1300" b="0">
                <a:solidFill>
                  <a:srgbClr val="51666B"/>
                </a:solidFill>
                <a:latin typeface="Segoe UI"/>
              </a:rPr>
              <a:t>Data uji sintetis → pemanggilan alur → evaluasi hasil → perbaikan oleh pengembang</a:t>
            </a:r>
          </a:p>
        </p:txBody>
      </p:sp>
      <p:sp>
        <p:nvSpPr>
          <p:cNvPr id="28" name="Rounded Rectangle 27"/>
          <p:cNvSpPr/>
          <p:nvPr/>
        </p:nvSpPr>
        <p:spPr>
          <a:xfrm>
            <a:off x="609600" y="4241800"/>
            <a:ext cx="10972800" cy="1447800"/>
          </a:xfrm>
          <a:prstGeom prst="roundRect">
            <a:avLst>
              <a:gd name="adj" fmla="val 10526"/>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900" y="4432300"/>
            <a:ext cx="10033000" cy="211328"/>
          </a:xfrm>
          <a:prstGeom prst="rect">
            <a:avLst/>
          </a:prstGeom>
          <a:noFill/>
        </p:spPr>
        <p:txBody>
          <a:bodyPr wrap="none" lIns="0" rIns="0" tIns="0" bIns="0" anchor="t">
            <a:spAutoFit/>
          </a:bodyPr>
          <a:lstStyle/>
          <a:p>
            <a:pPr algn="l">
              <a:lnSpc>
                <a:spcPts val="1364"/>
              </a:lnSpc>
              <a:spcBef>
                <a:spcPts val="0"/>
              </a:spcBef>
              <a:spcAft>
                <a:spcPts val="0"/>
              </a:spcAft>
            </a:pPr>
            <a:r>
              <a:rPr sz="1100" b="1">
                <a:solidFill>
                  <a:srgbClr val="087F75"/>
                </a:solidFill>
                <a:latin typeface="Segoe UI"/>
              </a:rPr>
              <a:t>PENGGUNAAN APLIKASI</a:t>
            </a:r>
          </a:p>
        </p:txBody>
      </p:sp>
      <p:sp>
        <p:nvSpPr>
          <p:cNvPr id="30" name="TextBox 29"/>
          <p:cNvSpPr txBox="1"/>
          <p:nvPr/>
        </p:nvSpPr>
        <p:spPr>
          <a:xfrm>
            <a:off x="876300" y="4826000"/>
            <a:ext cx="1714500" cy="321564"/>
          </a:xfrm>
          <a:prstGeom prst="rect">
            <a:avLst/>
          </a:prstGeom>
          <a:noFill/>
        </p:spPr>
        <p:txBody>
          <a:bodyPr wrap="none" lIns="0" rIns="0" tIns="0" bIns="0" anchor="t">
            <a:spAutoFit/>
          </a:bodyPr>
          <a:lstStyle/>
          <a:p>
            <a:pPr algn="ctr">
              <a:lnSpc>
                <a:spcPts val="2232"/>
              </a:lnSpc>
              <a:spcBef>
                <a:spcPts val="0"/>
              </a:spcBef>
              <a:spcAft>
                <a:spcPts val="0"/>
              </a:spcAft>
            </a:pPr>
            <a:r>
              <a:rPr sz="1800" b="1">
                <a:solidFill>
                  <a:srgbClr val="102D36"/>
                </a:solidFill>
                <a:latin typeface="Segoe UI"/>
              </a:rPr>
              <a:t>Pengguna</a:t>
            </a:r>
          </a:p>
        </p:txBody>
      </p:sp>
      <p:cxnSp>
        <p:nvCxnSpPr>
          <p:cNvPr id="31" name="Connector 30"/>
          <p:cNvCxnSpPr/>
          <p:nvPr/>
        </p:nvCxnSpPr>
        <p:spPr>
          <a:xfrm>
            <a:off x="2679700" y="4991100"/>
            <a:ext cx="3683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1800" y="4940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71800" y="4991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175000" y="4826000"/>
            <a:ext cx="1587500" cy="321564"/>
          </a:xfrm>
          <a:prstGeom prst="rect">
            <a:avLst/>
          </a:prstGeom>
          <a:noFill/>
        </p:spPr>
        <p:txBody>
          <a:bodyPr wrap="none" lIns="0" rIns="0" tIns="0" bIns="0" anchor="t">
            <a:spAutoFit/>
          </a:bodyPr>
          <a:lstStyle/>
          <a:p>
            <a:pPr algn="ctr">
              <a:lnSpc>
                <a:spcPts val="2232"/>
              </a:lnSpc>
              <a:spcBef>
                <a:spcPts val="0"/>
              </a:spcBef>
              <a:spcAft>
                <a:spcPts val="0"/>
              </a:spcAft>
            </a:pPr>
            <a:r>
              <a:rPr sz="1800" b="1">
                <a:solidFill>
                  <a:srgbClr val="102D36"/>
                </a:solidFill>
                <a:latin typeface="Segoe UI"/>
              </a:rPr>
              <a:t>Backend</a:t>
            </a:r>
          </a:p>
        </p:txBody>
      </p:sp>
      <p:cxnSp>
        <p:nvCxnSpPr>
          <p:cNvPr id="35" name="Connector 34"/>
          <p:cNvCxnSpPr/>
          <p:nvPr/>
        </p:nvCxnSpPr>
        <p:spPr>
          <a:xfrm>
            <a:off x="4889500" y="4991100"/>
            <a:ext cx="3937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207000" y="4940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207000" y="4991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10200" y="4826000"/>
            <a:ext cx="1765300" cy="321564"/>
          </a:xfrm>
          <a:prstGeom prst="rect">
            <a:avLst/>
          </a:prstGeom>
          <a:noFill/>
        </p:spPr>
        <p:txBody>
          <a:bodyPr wrap="none" lIns="0" rIns="0" tIns="0" bIns="0" anchor="t">
            <a:spAutoFit/>
          </a:bodyPr>
          <a:lstStyle/>
          <a:p>
            <a:pPr algn="ctr">
              <a:lnSpc>
                <a:spcPts val="2232"/>
              </a:lnSpc>
              <a:spcBef>
                <a:spcPts val="0"/>
              </a:spcBef>
              <a:spcAft>
                <a:spcPts val="0"/>
              </a:spcAft>
            </a:pPr>
            <a:r>
              <a:rPr sz="1800" b="1">
                <a:solidFill>
                  <a:srgbClr val="102D36"/>
                </a:solidFill>
                <a:latin typeface="Segoe UI"/>
              </a:rPr>
              <a:t>Langflow</a:t>
            </a:r>
          </a:p>
        </p:txBody>
      </p:sp>
      <p:cxnSp>
        <p:nvCxnSpPr>
          <p:cNvPr id="39" name="Connector 38"/>
          <p:cNvCxnSpPr/>
          <p:nvPr/>
        </p:nvCxnSpPr>
        <p:spPr>
          <a:xfrm>
            <a:off x="7302500" y="4991100"/>
            <a:ext cx="393700" cy="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620000" y="49403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620000" y="4991100"/>
            <a:ext cx="76200" cy="50800"/>
          </a:xfrm>
          <a:prstGeom prst="line">
            <a:avLst/>
          </a:prstGeom>
          <a:ln w="22860">
            <a:solidFill>
              <a:srgbClr val="087F7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823200" y="4826000"/>
            <a:ext cx="3378200" cy="321564"/>
          </a:xfrm>
          <a:prstGeom prst="rect">
            <a:avLst/>
          </a:prstGeom>
          <a:noFill/>
        </p:spPr>
        <p:txBody>
          <a:bodyPr wrap="none" lIns="0" rIns="0" tIns="0" bIns="0" anchor="t">
            <a:spAutoFit/>
          </a:bodyPr>
          <a:lstStyle/>
          <a:p>
            <a:pPr algn="ctr">
              <a:lnSpc>
                <a:spcPts val="2232"/>
              </a:lnSpc>
              <a:spcBef>
                <a:spcPts val="0"/>
              </a:spcBef>
              <a:spcAft>
                <a:spcPts val="0"/>
              </a:spcAft>
            </a:pPr>
            <a:r>
              <a:rPr sz="1800" b="1">
                <a:solidFill>
                  <a:srgbClr val="102D36"/>
                </a:solidFill>
                <a:latin typeface="Segoe UI"/>
              </a:rPr>
              <a:t>Temuan &amp; usulan</a:t>
            </a:r>
          </a:p>
        </p:txBody>
      </p:sp>
      <p:sp>
        <p:nvSpPr>
          <p:cNvPr id="43" name="TextBox 42"/>
          <p:cNvSpPr txBox="1"/>
          <p:nvPr/>
        </p:nvSpPr>
        <p:spPr>
          <a:xfrm>
            <a:off x="863600" y="5308600"/>
            <a:ext cx="10414000" cy="227076"/>
          </a:xfrm>
          <a:prstGeom prst="rect">
            <a:avLst/>
          </a:prstGeom>
          <a:noFill/>
        </p:spPr>
        <p:txBody>
          <a:bodyPr wrap="none" lIns="0" rIns="0" tIns="0" bIns="0" anchor="t">
            <a:spAutoFit/>
          </a:bodyPr>
          <a:lstStyle/>
          <a:p>
            <a:pPr algn="ctr">
              <a:lnSpc>
                <a:spcPts val="1488"/>
              </a:lnSpc>
              <a:spcBef>
                <a:spcPts val="0"/>
              </a:spcBef>
              <a:spcAft>
                <a:spcPts val="0"/>
              </a:spcAft>
            </a:pPr>
            <a:r>
              <a:rPr sz="1200" b="0">
                <a:solidFill>
                  <a:srgbClr val="087F75"/>
                </a:solidFill>
                <a:latin typeface="Segoe UI"/>
              </a:rPr>
              <a:t>Persetujuan pengguna dan keputusan peninjau tetap dikendalikan aplikasi.</a:t>
            </a:r>
          </a:p>
        </p:txBody>
      </p:sp>
      <p:sp>
        <p:nvSpPr>
          <p:cNvPr id="44" name="TextBox 43"/>
          <p:cNvSpPr txBox="1"/>
          <p:nvPr/>
        </p:nvSpPr>
        <p:spPr>
          <a:xfrm>
            <a:off x="609600" y="5892800"/>
            <a:ext cx="3937000" cy="195580"/>
          </a:xfrm>
          <a:prstGeom prst="rect">
            <a:avLst/>
          </a:prstGeom>
          <a:noFill/>
        </p:spPr>
        <p:txBody>
          <a:bodyPr wrap="none" lIns="0" rIns="0" tIns="0" bIns="0" anchor="t">
            <a:spAutoFit/>
          </a:bodyPr>
          <a:lstStyle/>
          <a:p>
            <a:pPr algn="l">
              <a:lnSpc>
                <a:spcPts val="1240"/>
              </a:lnSpc>
              <a:spcBef>
                <a:spcPts val="0"/>
              </a:spcBef>
              <a:spcAft>
                <a:spcPts val="0"/>
              </a:spcAft>
            </a:pPr>
            <a:r>
              <a:rPr sz="1000" b="0">
                <a:solidFill>
                  <a:srgbClr val="087F75"/>
                </a:solidFill>
                <a:latin typeface="Segoe UI"/>
                <a:hlinkClick r:id="rId2"/>
              </a:rPr>
              <a:t>Rencana integrasi • Langflow MCP</a:t>
            </a:r>
          </a:p>
        </p:txBody>
      </p:sp>
      <p:sp>
        <p:nvSpPr>
          <p:cNvPr id="45" name="TextBox 44"/>
          <p:cNvSpPr txBox="1"/>
          <p:nvPr/>
        </p:nvSpPr>
        <p:spPr>
          <a:xfrm>
            <a:off x="4826000" y="5892800"/>
            <a:ext cx="1905000" cy="195580"/>
          </a:xfrm>
          <a:prstGeom prst="rect">
            <a:avLst/>
          </a:prstGeom>
          <a:noFill/>
        </p:spPr>
        <p:txBody>
          <a:bodyPr wrap="none" lIns="0" rIns="0" tIns="0" bIns="0" anchor="t">
            <a:spAutoFit/>
          </a:bodyPr>
          <a:lstStyle/>
          <a:p>
            <a:pPr algn="l">
              <a:lnSpc>
                <a:spcPts val="1240"/>
              </a:lnSpc>
              <a:spcBef>
                <a:spcPts val="0"/>
              </a:spcBef>
              <a:spcAft>
                <a:spcPts val="0"/>
              </a:spcAft>
            </a:pPr>
            <a:r>
              <a:rPr sz="1000" b="0">
                <a:solidFill>
                  <a:srgbClr val="087F75"/>
                </a:solidFill>
                <a:latin typeface="Segoe UI"/>
                <a:hlinkClick r:id="rId3"/>
              </a:rPr>
              <a:t>IBM Bob MCP</a:t>
            </a:r>
          </a:p>
        </p:txBody>
      </p:sp>
      <p:sp>
        <p:nvSpPr>
          <p:cNvPr id="46" name="TextBox 45"/>
          <p:cNvSpPr txBox="1"/>
          <p:nvPr/>
        </p:nvSpPr>
        <p:spPr>
          <a:xfrm>
            <a:off x="8178800" y="5892800"/>
            <a:ext cx="3403600" cy="195580"/>
          </a:xfrm>
          <a:prstGeom prst="rect">
            <a:avLst/>
          </a:prstGeom>
          <a:noFill/>
        </p:spPr>
        <p:txBody>
          <a:bodyPr wrap="none" lIns="0" rIns="0" tIns="0" bIns="0" anchor="t">
            <a:spAutoFit/>
          </a:bodyPr>
          <a:lstStyle/>
          <a:p>
            <a:pPr algn="ctr">
              <a:lnSpc>
                <a:spcPts val="1240"/>
              </a:lnSpc>
              <a:spcBef>
                <a:spcPts val="0"/>
              </a:spcBef>
              <a:spcAft>
                <a:spcPts val="0"/>
              </a:spcAft>
            </a:pPr>
            <a:r>
              <a:rPr sz="1000" b="0">
                <a:solidFill>
                  <a:srgbClr val="51666B"/>
                </a:solidFill>
                <a:latin typeface="Segoe UI"/>
              </a:rPr>
              <a:t>React • FastAPI • Supabase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DAMPAK &amp; AI YANG BERTANGGUNG JAWAB</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06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Target terukur. Kendali tetap pada manusia.</a:t>
            </a:r>
          </a:p>
        </p:txBody>
      </p:sp>
      <p:sp>
        <p:nvSpPr>
          <p:cNvPr id="8" name="TextBox 7"/>
          <p:cNvSpPr txBox="1"/>
          <p:nvPr/>
        </p:nvSpPr>
        <p:spPr>
          <a:xfrm>
            <a:off x="609600" y="1841500"/>
            <a:ext cx="10972800" cy="211328"/>
          </a:xfrm>
          <a:prstGeom prst="rect">
            <a:avLst/>
          </a:prstGeom>
          <a:noFill/>
        </p:spPr>
        <p:txBody>
          <a:bodyPr wrap="none" lIns="0" rIns="0" tIns="0" bIns="0" anchor="t">
            <a:spAutoFit/>
          </a:bodyPr>
          <a:lstStyle/>
          <a:p>
            <a:pPr algn="l">
              <a:lnSpc>
                <a:spcPts val="1364"/>
              </a:lnSpc>
              <a:spcBef>
                <a:spcPts val="0"/>
              </a:spcBef>
              <a:spcAft>
                <a:spcPts val="0"/>
              </a:spcAft>
            </a:pPr>
            <a:r>
              <a:rPr sz="1100" b="1">
                <a:solidFill>
                  <a:srgbClr val="087F75"/>
                </a:solidFill>
                <a:latin typeface="Segoe UI"/>
              </a:rPr>
              <a:t>SASARAN EVALUASI — BELUM HASIL PENGUJIAN</a:t>
            </a:r>
          </a:p>
        </p:txBody>
      </p:sp>
      <p:sp>
        <p:nvSpPr>
          <p:cNvPr id="9" name="Rounded Rectangle 8"/>
          <p:cNvSpPr/>
          <p:nvPr/>
        </p:nvSpPr>
        <p:spPr>
          <a:xfrm>
            <a:off x="609600" y="2247900"/>
            <a:ext cx="3505200" cy="2222500"/>
          </a:xfrm>
          <a:prstGeom prst="roundRect">
            <a:avLst>
              <a:gd name="adj" fmla="val 68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374900"/>
            <a:ext cx="2997200" cy="872744"/>
          </a:xfrm>
          <a:prstGeom prst="rect">
            <a:avLst/>
          </a:prstGeom>
          <a:noFill/>
        </p:spPr>
        <p:txBody>
          <a:bodyPr wrap="none" lIns="0" rIns="0" tIns="0" bIns="0" anchor="t">
            <a:spAutoFit/>
          </a:bodyPr>
          <a:lstStyle/>
          <a:p>
            <a:pPr algn="l">
              <a:lnSpc>
                <a:spcPts val="6572"/>
              </a:lnSpc>
              <a:spcBef>
                <a:spcPts val="0"/>
              </a:spcBef>
              <a:spcAft>
                <a:spcPts val="0"/>
              </a:spcAft>
            </a:pPr>
            <a:r>
              <a:rPr sz="5300" b="1">
                <a:solidFill>
                  <a:srgbClr val="087F75"/>
                </a:solidFill>
                <a:latin typeface="Segoe UI"/>
              </a:rPr>
              <a:t>20%</a:t>
            </a:r>
          </a:p>
        </p:txBody>
      </p:sp>
      <p:sp>
        <p:nvSpPr>
          <p:cNvPr id="11" name="TextBox 10"/>
          <p:cNvSpPr txBox="1"/>
          <p:nvPr/>
        </p:nvSpPr>
        <p:spPr>
          <a:xfrm>
            <a:off x="863600" y="3289300"/>
            <a:ext cx="2997200" cy="353060"/>
          </a:xfrm>
          <a:prstGeom prst="rect">
            <a:avLst/>
          </a:prstGeom>
          <a:noFill/>
        </p:spPr>
        <p:txBody>
          <a:bodyPr wrap="none" lIns="0" rIns="0" tIns="0" bIns="0" anchor="t">
            <a:spAutoFit/>
          </a:bodyPr>
          <a:lstStyle/>
          <a:p>
            <a:pPr algn="l">
              <a:lnSpc>
                <a:spcPts val="2480"/>
              </a:lnSpc>
              <a:spcBef>
                <a:spcPts val="0"/>
              </a:spcBef>
              <a:spcAft>
                <a:spcPts val="0"/>
              </a:spcAft>
            </a:pPr>
            <a:r>
              <a:rPr sz="2000" b="1">
                <a:solidFill>
                  <a:srgbClr val="102D36"/>
                </a:solidFill>
                <a:latin typeface="Segoe UI"/>
              </a:rPr>
              <a:t>Waktu pengajuan</a:t>
            </a:r>
          </a:p>
        </p:txBody>
      </p:sp>
      <p:sp>
        <p:nvSpPr>
          <p:cNvPr id="12" name="TextBox 11"/>
          <p:cNvSpPr txBox="1"/>
          <p:nvPr/>
        </p:nvSpPr>
        <p:spPr>
          <a:xfrm>
            <a:off x="863600" y="37338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51666B"/>
                </a:solidFill>
                <a:latin typeface="Segoe UI"/>
              </a:rPr>
              <a:t>Target penurunan median</a:t>
            </a:r>
          </a:p>
          <a:p>
            <a:pPr algn="l">
              <a:lnSpc>
                <a:spcPts val="1736"/>
              </a:lnSpc>
              <a:spcBef>
                <a:spcPts val="0"/>
              </a:spcBef>
              <a:spcAft>
                <a:spcPts val="0"/>
              </a:spcAft>
            </a:pPr>
            <a:r>
              <a:rPr sz="1400" b="0">
                <a:solidFill>
                  <a:srgbClr val="51666B"/>
                </a:solidFill>
                <a:latin typeface="Segoe UI"/>
              </a:rPr>
              <a:t>waktu aktif mahasiswa.</a:t>
            </a:r>
          </a:p>
        </p:txBody>
      </p:sp>
      <p:sp>
        <p:nvSpPr>
          <p:cNvPr id="13" name="Rounded Rectangle 12"/>
          <p:cNvSpPr/>
          <p:nvPr/>
        </p:nvSpPr>
        <p:spPr>
          <a:xfrm>
            <a:off x="4343400" y="2247900"/>
            <a:ext cx="3505200" cy="2222500"/>
          </a:xfrm>
          <a:prstGeom prst="roundRect">
            <a:avLst>
              <a:gd name="adj" fmla="val 68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400" y="2374900"/>
            <a:ext cx="2997200" cy="872744"/>
          </a:xfrm>
          <a:prstGeom prst="rect">
            <a:avLst/>
          </a:prstGeom>
          <a:noFill/>
        </p:spPr>
        <p:txBody>
          <a:bodyPr wrap="none" lIns="0" rIns="0" tIns="0" bIns="0" anchor="t">
            <a:spAutoFit/>
          </a:bodyPr>
          <a:lstStyle/>
          <a:p>
            <a:pPr algn="l">
              <a:lnSpc>
                <a:spcPts val="6572"/>
              </a:lnSpc>
              <a:spcBef>
                <a:spcPts val="0"/>
              </a:spcBef>
              <a:spcAft>
                <a:spcPts val="0"/>
              </a:spcAft>
            </a:pPr>
            <a:r>
              <a:rPr sz="5300" b="1">
                <a:solidFill>
                  <a:srgbClr val="087F75"/>
                </a:solidFill>
                <a:latin typeface="Segoe UI"/>
              </a:rPr>
              <a:t>20%</a:t>
            </a:r>
          </a:p>
        </p:txBody>
      </p:sp>
      <p:sp>
        <p:nvSpPr>
          <p:cNvPr id="15" name="TextBox 14"/>
          <p:cNvSpPr txBox="1"/>
          <p:nvPr/>
        </p:nvSpPr>
        <p:spPr>
          <a:xfrm>
            <a:off x="4597400" y="3289300"/>
            <a:ext cx="2997200" cy="353060"/>
          </a:xfrm>
          <a:prstGeom prst="rect">
            <a:avLst/>
          </a:prstGeom>
          <a:noFill/>
        </p:spPr>
        <p:txBody>
          <a:bodyPr wrap="none" lIns="0" rIns="0" tIns="0" bIns="0" anchor="t">
            <a:spAutoFit/>
          </a:bodyPr>
          <a:lstStyle/>
          <a:p>
            <a:pPr algn="l">
              <a:lnSpc>
                <a:spcPts val="2480"/>
              </a:lnSpc>
              <a:spcBef>
                <a:spcPts val="0"/>
              </a:spcBef>
              <a:spcAft>
                <a:spcPts val="0"/>
              </a:spcAft>
            </a:pPr>
            <a:r>
              <a:rPr sz="2000" b="1">
                <a:solidFill>
                  <a:srgbClr val="102D36"/>
                </a:solidFill>
                <a:latin typeface="Segoe UI"/>
              </a:rPr>
              <a:t>Waktu pemeriksaan</a:t>
            </a:r>
          </a:p>
        </p:txBody>
      </p:sp>
      <p:sp>
        <p:nvSpPr>
          <p:cNvPr id="16" name="TextBox 15"/>
          <p:cNvSpPr txBox="1"/>
          <p:nvPr/>
        </p:nvSpPr>
        <p:spPr>
          <a:xfrm>
            <a:off x="4597400" y="37338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51666B"/>
                </a:solidFill>
                <a:latin typeface="Segoe UI"/>
              </a:rPr>
              <a:t>Target penurunan median</a:t>
            </a:r>
          </a:p>
          <a:p>
            <a:pPr algn="l">
              <a:lnSpc>
                <a:spcPts val="1736"/>
              </a:lnSpc>
              <a:spcBef>
                <a:spcPts val="0"/>
              </a:spcBef>
              <a:spcAft>
                <a:spcPts val="0"/>
              </a:spcAft>
            </a:pPr>
            <a:r>
              <a:rPr sz="1400" b="0">
                <a:solidFill>
                  <a:srgbClr val="51666B"/>
                </a:solidFill>
                <a:latin typeface="Segoe UI"/>
              </a:rPr>
              <a:t>tanpa menurunkan ketepatan.</a:t>
            </a:r>
          </a:p>
        </p:txBody>
      </p:sp>
      <p:sp>
        <p:nvSpPr>
          <p:cNvPr id="17" name="Rounded Rectangle 16"/>
          <p:cNvSpPr/>
          <p:nvPr/>
        </p:nvSpPr>
        <p:spPr>
          <a:xfrm>
            <a:off x="8077200" y="2247900"/>
            <a:ext cx="3505200" cy="2222500"/>
          </a:xfrm>
          <a:prstGeom prst="roundRect">
            <a:avLst>
              <a:gd name="adj" fmla="val 68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200" y="2374900"/>
            <a:ext cx="2997200" cy="872744"/>
          </a:xfrm>
          <a:prstGeom prst="rect">
            <a:avLst/>
          </a:prstGeom>
          <a:noFill/>
        </p:spPr>
        <p:txBody>
          <a:bodyPr wrap="none" lIns="0" rIns="0" tIns="0" bIns="0" anchor="t">
            <a:spAutoFit/>
          </a:bodyPr>
          <a:lstStyle/>
          <a:p>
            <a:pPr algn="l">
              <a:lnSpc>
                <a:spcPts val="6572"/>
              </a:lnSpc>
              <a:spcBef>
                <a:spcPts val="0"/>
              </a:spcBef>
              <a:spcAft>
                <a:spcPts val="0"/>
              </a:spcAft>
            </a:pPr>
            <a:r>
              <a:rPr sz="5300" b="1">
                <a:solidFill>
                  <a:srgbClr val="087F75"/>
                </a:solidFill>
                <a:latin typeface="Segoe UI"/>
              </a:rPr>
              <a:t>80%</a:t>
            </a:r>
          </a:p>
        </p:txBody>
      </p:sp>
      <p:sp>
        <p:nvSpPr>
          <p:cNvPr id="19" name="TextBox 18"/>
          <p:cNvSpPr txBox="1"/>
          <p:nvPr/>
        </p:nvSpPr>
        <p:spPr>
          <a:xfrm>
            <a:off x="8331200" y="3289300"/>
            <a:ext cx="2997200" cy="353060"/>
          </a:xfrm>
          <a:prstGeom prst="rect">
            <a:avLst/>
          </a:prstGeom>
          <a:noFill/>
        </p:spPr>
        <p:txBody>
          <a:bodyPr wrap="none" lIns="0" rIns="0" tIns="0" bIns="0" anchor="t">
            <a:spAutoFit/>
          </a:bodyPr>
          <a:lstStyle/>
          <a:p>
            <a:pPr algn="l">
              <a:lnSpc>
                <a:spcPts val="2480"/>
              </a:lnSpc>
              <a:spcBef>
                <a:spcPts val="0"/>
              </a:spcBef>
              <a:spcAft>
                <a:spcPts val="0"/>
              </a:spcAft>
            </a:pPr>
            <a:r>
              <a:rPr sz="2000" b="1">
                <a:solidFill>
                  <a:srgbClr val="102D36"/>
                </a:solidFill>
                <a:latin typeface="Segoe UI"/>
              </a:rPr>
              <a:t>Revisi berhasil</a:t>
            </a:r>
          </a:p>
        </p:txBody>
      </p:sp>
      <p:sp>
        <p:nvSpPr>
          <p:cNvPr id="20" name="TextBox 19"/>
          <p:cNvSpPr txBox="1"/>
          <p:nvPr/>
        </p:nvSpPr>
        <p:spPr>
          <a:xfrm>
            <a:off x="8331200" y="37338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51666B"/>
                </a:solidFill>
                <a:latin typeface="Segoe UI"/>
              </a:rPr>
              <a:t>Target tugas revisi benar</a:t>
            </a:r>
          </a:p>
          <a:p>
            <a:pPr algn="l">
              <a:lnSpc>
                <a:spcPts val="1736"/>
              </a:lnSpc>
              <a:spcBef>
                <a:spcPts val="0"/>
              </a:spcBef>
              <a:spcAft>
                <a:spcPts val="0"/>
              </a:spcAft>
            </a:pPr>
            <a:r>
              <a:rPr sz="1400" b="0">
                <a:solidFill>
                  <a:srgbClr val="51666B"/>
                </a:solidFill>
                <a:latin typeface="Segoe UI"/>
              </a:rPr>
              <a:t>pada pengiriman ulang pertama.</a:t>
            </a:r>
          </a:p>
        </p:txBody>
      </p:sp>
      <p:sp>
        <p:nvSpPr>
          <p:cNvPr id="21" name="TextBox 20"/>
          <p:cNvSpPr txBox="1"/>
          <p:nvPr/>
        </p:nvSpPr>
        <p:spPr>
          <a:xfrm>
            <a:off x="609600" y="4711700"/>
            <a:ext cx="10972800" cy="274320"/>
          </a:xfrm>
          <a:prstGeom prst="rect">
            <a:avLst/>
          </a:prstGeom>
          <a:noFill/>
        </p:spPr>
        <p:txBody>
          <a:bodyPr wrap="none" lIns="0" rIns="0" tIns="0" bIns="0" anchor="t">
            <a:spAutoFit/>
          </a:bodyPr>
          <a:lstStyle/>
          <a:p>
            <a:pPr algn="ctr">
              <a:lnSpc>
                <a:spcPts val="1860"/>
              </a:lnSpc>
              <a:spcBef>
                <a:spcPts val="0"/>
              </a:spcBef>
              <a:spcAft>
                <a:spcPts val="0"/>
              </a:spcAft>
            </a:pPr>
            <a:r>
              <a:rPr sz="1500" b="0">
                <a:solidFill>
                  <a:srgbClr val="51666B"/>
                </a:solidFill>
                <a:latin typeface="Segoe UI"/>
              </a:rPr>
              <a:t>Uji dengan tugas setara dan data sintetis; bandingkan dengan proses awal.</a:t>
            </a:r>
          </a:p>
        </p:txBody>
      </p:sp>
      <p:sp>
        <p:nvSpPr>
          <p:cNvPr id="22" name="Rounded Rectangle 21"/>
          <p:cNvSpPr/>
          <p:nvPr/>
        </p:nvSpPr>
        <p:spPr>
          <a:xfrm>
            <a:off x="609600" y="5257800"/>
            <a:ext cx="2552700" cy="596900"/>
          </a:xfrm>
          <a:prstGeom prst="roundRect">
            <a:avLst>
              <a:gd name="adj" fmla="val 17021"/>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600" y="5448300"/>
            <a:ext cx="2298700" cy="227076"/>
          </a:xfrm>
          <a:prstGeom prst="rect">
            <a:avLst/>
          </a:prstGeom>
          <a:noFill/>
        </p:spPr>
        <p:txBody>
          <a:bodyPr wrap="none" lIns="0" rIns="0" tIns="0" bIns="0" anchor="t">
            <a:spAutoFit/>
          </a:bodyPr>
          <a:lstStyle/>
          <a:p>
            <a:pPr algn="ctr">
              <a:lnSpc>
                <a:spcPts val="1488"/>
              </a:lnSpc>
              <a:spcBef>
                <a:spcPts val="0"/>
              </a:spcBef>
              <a:spcAft>
                <a:spcPts val="0"/>
              </a:spcAft>
            </a:pPr>
            <a:r>
              <a:rPr sz="1200" b="1">
                <a:solidFill>
                  <a:srgbClr val="087F75"/>
                </a:solidFill>
                <a:latin typeface="Segoe UI"/>
              </a:rPr>
              <a:t>Bukti &amp; sumber jelas</a:t>
            </a:r>
          </a:p>
        </p:txBody>
      </p:sp>
      <p:sp>
        <p:nvSpPr>
          <p:cNvPr id="24" name="Rounded Rectangle 23"/>
          <p:cNvSpPr/>
          <p:nvPr/>
        </p:nvSpPr>
        <p:spPr>
          <a:xfrm>
            <a:off x="3416300" y="5257800"/>
            <a:ext cx="2552700" cy="596900"/>
          </a:xfrm>
          <a:prstGeom prst="roundRect">
            <a:avLst>
              <a:gd name="adj" fmla="val 17021"/>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3300" y="5448300"/>
            <a:ext cx="2298700" cy="227076"/>
          </a:xfrm>
          <a:prstGeom prst="rect">
            <a:avLst/>
          </a:prstGeom>
          <a:noFill/>
        </p:spPr>
        <p:txBody>
          <a:bodyPr wrap="none" lIns="0" rIns="0" tIns="0" bIns="0" anchor="t">
            <a:spAutoFit/>
          </a:bodyPr>
          <a:lstStyle/>
          <a:p>
            <a:pPr algn="ctr">
              <a:lnSpc>
                <a:spcPts val="1488"/>
              </a:lnSpc>
              <a:spcBef>
                <a:spcPts val="0"/>
              </a:spcBef>
              <a:spcAft>
                <a:spcPts val="0"/>
              </a:spcAft>
            </a:pPr>
            <a:r>
              <a:rPr sz="1200" b="1">
                <a:solidFill>
                  <a:srgbClr val="087F75"/>
                </a:solidFill>
                <a:latin typeface="Segoe UI"/>
              </a:rPr>
              <a:t>Persetujuan manusia</a:t>
            </a:r>
          </a:p>
        </p:txBody>
      </p:sp>
      <p:sp>
        <p:nvSpPr>
          <p:cNvPr id="26" name="Rounded Rectangle 25"/>
          <p:cNvSpPr/>
          <p:nvPr/>
        </p:nvSpPr>
        <p:spPr>
          <a:xfrm>
            <a:off x="6223000" y="5257800"/>
            <a:ext cx="2552700" cy="596900"/>
          </a:xfrm>
          <a:prstGeom prst="roundRect">
            <a:avLst>
              <a:gd name="adj" fmla="val 17021"/>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0000" y="5448300"/>
            <a:ext cx="2298700" cy="227076"/>
          </a:xfrm>
          <a:prstGeom prst="rect">
            <a:avLst/>
          </a:prstGeom>
          <a:noFill/>
        </p:spPr>
        <p:txBody>
          <a:bodyPr wrap="none" lIns="0" rIns="0" tIns="0" bIns="0" anchor="t">
            <a:spAutoFit/>
          </a:bodyPr>
          <a:lstStyle/>
          <a:p>
            <a:pPr algn="ctr">
              <a:lnSpc>
                <a:spcPts val="1488"/>
              </a:lnSpc>
              <a:spcBef>
                <a:spcPts val="0"/>
              </a:spcBef>
              <a:spcAft>
                <a:spcPts val="0"/>
              </a:spcAft>
            </a:pPr>
            <a:r>
              <a:rPr sz="1200" b="1">
                <a:solidFill>
                  <a:srgbClr val="087F75"/>
                </a:solidFill>
                <a:latin typeface="Segoe UI"/>
              </a:rPr>
              <a:t>Pemisahan akses</a:t>
            </a:r>
          </a:p>
        </p:txBody>
      </p:sp>
      <p:sp>
        <p:nvSpPr>
          <p:cNvPr id="28" name="Rounded Rectangle 27"/>
          <p:cNvSpPr/>
          <p:nvPr/>
        </p:nvSpPr>
        <p:spPr>
          <a:xfrm>
            <a:off x="9029700" y="5257800"/>
            <a:ext cx="2552700" cy="596900"/>
          </a:xfrm>
          <a:prstGeom prst="roundRect">
            <a:avLst>
              <a:gd name="adj" fmla="val 17021"/>
            </a:avLst>
          </a:prstGeom>
          <a:solidFill>
            <a:srgbClr val="D9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56700" y="5448300"/>
            <a:ext cx="2298700" cy="227076"/>
          </a:xfrm>
          <a:prstGeom prst="rect">
            <a:avLst/>
          </a:prstGeom>
          <a:noFill/>
        </p:spPr>
        <p:txBody>
          <a:bodyPr wrap="none" lIns="0" rIns="0" tIns="0" bIns="0" anchor="t">
            <a:spAutoFit/>
          </a:bodyPr>
          <a:lstStyle/>
          <a:p>
            <a:pPr algn="ctr">
              <a:lnSpc>
                <a:spcPts val="1488"/>
              </a:lnSpc>
              <a:spcBef>
                <a:spcPts val="0"/>
              </a:spcBef>
              <a:spcAft>
                <a:spcPts val="0"/>
              </a:spcAft>
            </a:pPr>
            <a:r>
              <a:rPr sz="1200" b="1">
                <a:solidFill>
                  <a:srgbClr val="087F75"/>
                </a:solidFill>
                <a:latin typeface="Segoe UI"/>
              </a:rPr>
              <a:t>Jalur pemeriksaan manual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0"/>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102D36"/>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087F75"/>
                </a:solidFill>
                <a:latin typeface="Segoe UI"/>
              </a:rPr>
              <a:t>MODEL BISNIS &amp; SKALABILITAS</a:t>
            </a:r>
          </a:p>
        </p:txBody>
      </p:sp>
      <p:cxnSp>
        <p:nvCxnSpPr>
          <p:cNvPr id="4" name="Connector 3"/>
          <p:cNvCxnSpPr/>
          <p:nvPr/>
        </p:nvCxnSpPr>
        <p:spPr>
          <a:xfrm>
            <a:off x="609600" y="6261100"/>
            <a:ext cx="10972800" cy="0"/>
          </a:xfrm>
          <a:prstGeom prst="line">
            <a:avLst/>
          </a:prstGeom>
          <a:ln w="12700">
            <a:solidFill>
              <a:srgbClr val="D9E1D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51666B"/>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102D36"/>
                </a:solidFill>
                <a:latin typeface="Segoe UI"/>
              </a:rPr>
              <a:t>07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102D36"/>
                </a:solidFill>
                <a:latin typeface="Segoe UI"/>
              </a:rPr>
              <a:t>Institusi berlangganan.</a:t>
            </a:r>
          </a:p>
          <a:p>
            <a:pPr algn="l">
              <a:lnSpc>
                <a:spcPts val="4216"/>
              </a:lnSpc>
              <a:spcBef>
                <a:spcPts val="0"/>
              </a:spcBef>
              <a:spcAft>
                <a:spcPts val="0"/>
              </a:spcAft>
            </a:pPr>
            <a:r>
              <a:rPr sz="3400" b="1">
                <a:solidFill>
                  <a:srgbClr val="102D36"/>
                </a:solidFill>
                <a:latin typeface="Segoe UI"/>
              </a:rPr>
              <a:t>Layanan berkembang melalui konfigurasi.</a:t>
            </a:r>
          </a:p>
        </p:txBody>
      </p:sp>
      <p:sp>
        <p:nvSpPr>
          <p:cNvPr id="8" name="Rounded Rectangle 7"/>
          <p:cNvSpPr/>
          <p:nvPr/>
        </p:nvSpPr>
        <p:spPr>
          <a:xfrm>
            <a:off x="609600" y="2374900"/>
            <a:ext cx="5181600" cy="3238500"/>
          </a:xfrm>
          <a:prstGeom prst="roundRect">
            <a:avLst>
              <a:gd name="adj" fmla="val 4705"/>
            </a:avLst>
          </a:prstGeom>
          <a:solidFill>
            <a:srgbClr val="10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2628900"/>
            <a:ext cx="46228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D4F36B"/>
                </a:solidFill>
                <a:latin typeface="Segoe UI"/>
              </a:rPr>
              <a:t>PELANGGAN AWAL</a:t>
            </a:r>
          </a:p>
        </p:txBody>
      </p:sp>
      <p:sp>
        <p:nvSpPr>
          <p:cNvPr id="10" name="TextBox 9"/>
          <p:cNvSpPr txBox="1"/>
          <p:nvPr/>
        </p:nvSpPr>
        <p:spPr>
          <a:xfrm>
            <a:off x="889000" y="3098800"/>
            <a:ext cx="4559300" cy="463295"/>
          </a:xfrm>
          <a:prstGeom prst="rect">
            <a:avLst/>
          </a:prstGeom>
          <a:noFill/>
        </p:spPr>
        <p:txBody>
          <a:bodyPr wrap="none" lIns="0" rIns="0" tIns="0" bIns="0" anchor="t">
            <a:spAutoFit/>
          </a:bodyPr>
          <a:lstStyle/>
          <a:p>
            <a:pPr algn="l">
              <a:lnSpc>
                <a:spcPts val="3347"/>
              </a:lnSpc>
              <a:spcBef>
                <a:spcPts val="0"/>
              </a:spcBef>
              <a:spcAft>
                <a:spcPts val="0"/>
              </a:spcAft>
            </a:pPr>
            <a:r>
              <a:rPr sz="2700" b="1">
                <a:solidFill>
                  <a:srgbClr val="FFFFFF"/>
                </a:solidFill>
                <a:latin typeface="Segoe UI"/>
              </a:rPr>
              <a:t>Unit administrasi kampus</a:t>
            </a:r>
          </a:p>
        </p:txBody>
      </p:sp>
      <p:sp>
        <p:nvSpPr>
          <p:cNvPr id="11" name="TextBox 10"/>
          <p:cNvSpPr txBox="1"/>
          <p:nvPr/>
        </p:nvSpPr>
        <p:spPr>
          <a:xfrm>
            <a:off x="889000" y="3759200"/>
            <a:ext cx="4508500" cy="573532"/>
          </a:xfrm>
          <a:prstGeom prst="rect">
            <a:avLst/>
          </a:prstGeom>
          <a:noFill/>
        </p:spPr>
        <p:txBody>
          <a:bodyPr wrap="none" lIns="0" rIns="0" tIns="0" bIns="0" anchor="t">
            <a:spAutoFit/>
          </a:bodyPr>
          <a:lstStyle/>
          <a:p>
            <a:pPr algn="l">
              <a:lnSpc>
                <a:spcPts val="2108"/>
              </a:lnSpc>
              <a:spcBef>
                <a:spcPts val="0"/>
              </a:spcBef>
              <a:spcAft>
                <a:spcPts val="0"/>
              </a:spcAft>
            </a:pPr>
            <a:r>
              <a:rPr sz="1700" b="0">
                <a:solidFill>
                  <a:srgbClr val="BDD3D1"/>
                </a:solidFill>
                <a:latin typeface="Segoe UI"/>
              </a:rPr>
              <a:t>Langganan berdasarkan jumlah layanan</a:t>
            </a:r>
          </a:p>
          <a:p>
            <a:pPr algn="l">
              <a:lnSpc>
                <a:spcPts val="2108"/>
              </a:lnSpc>
              <a:spcBef>
                <a:spcPts val="0"/>
              </a:spcBef>
              <a:spcAft>
                <a:spcPts val="0"/>
              </a:spcAft>
            </a:pPr>
            <a:r>
              <a:rPr sz="1700" b="0">
                <a:solidFill>
                  <a:srgbClr val="BDD3D1"/>
                </a:solidFill>
                <a:latin typeface="Segoe UI"/>
              </a:rPr>
              <a:t>dan volume pengajuan.</a:t>
            </a:r>
          </a:p>
        </p:txBody>
      </p:sp>
      <p:cxnSp>
        <p:nvCxnSpPr>
          <p:cNvPr id="12" name="Connector 11"/>
          <p:cNvCxnSpPr/>
          <p:nvPr/>
        </p:nvCxnSpPr>
        <p:spPr>
          <a:xfrm>
            <a:off x="889000" y="4508500"/>
            <a:ext cx="4622800" cy="0"/>
          </a:xfrm>
          <a:prstGeom prst="line">
            <a:avLst/>
          </a:prstGeom>
          <a:ln w="12700">
            <a:solidFill>
              <a:srgbClr val="3653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89000" y="4711700"/>
            <a:ext cx="4521200" cy="258572"/>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FFFFFF"/>
                </a:solidFill>
                <a:latin typeface="Segoe UI"/>
              </a:rPr>
              <a:t>Penyiapan SOP + konfigurasi + pelatihan</a:t>
            </a:r>
          </a:p>
        </p:txBody>
      </p:sp>
      <p:sp>
        <p:nvSpPr>
          <p:cNvPr id="14" name="TextBox 13"/>
          <p:cNvSpPr txBox="1"/>
          <p:nvPr/>
        </p:nvSpPr>
        <p:spPr>
          <a:xfrm>
            <a:off x="889000" y="5118100"/>
            <a:ext cx="4521200" cy="227076"/>
          </a:xfrm>
          <a:prstGeom prst="rect">
            <a:avLst/>
          </a:prstGeom>
          <a:noFill/>
        </p:spPr>
        <p:txBody>
          <a:bodyPr wrap="none" lIns="0" rIns="0" tIns="0" bIns="0" anchor="t">
            <a:spAutoFit/>
          </a:bodyPr>
          <a:lstStyle/>
          <a:p>
            <a:pPr algn="l">
              <a:lnSpc>
                <a:spcPts val="1488"/>
              </a:lnSpc>
              <a:spcBef>
                <a:spcPts val="0"/>
              </a:spcBef>
              <a:spcAft>
                <a:spcPts val="0"/>
              </a:spcAft>
            </a:pPr>
            <a:r>
              <a:rPr sz="1200" b="0">
                <a:solidFill>
                  <a:srgbClr val="BDD3D1"/>
                </a:solidFill>
                <a:latin typeface="Segoe UI"/>
              </a:rPr>
              <a:t>Harga dipelajari bersama calon pembeli.</a:t>
            </a:r>
          </a:p>
        </p:txBody>
      </p:sp>
      <p:sp>
        <p:nvSpPr>
          <p:cNvPr id="15" name="TextBox 14"/>
          <p:cNvSpPr txBox="1"/>
          <p:nvPr/>
        </p:nvSpPr>
        <p:spPr>
          <a:xfrm>
            <a:off x="6273800" y="2476500"/>
            <a:ext cx="50165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087F75"/>
                </a:solidFill>
                <a:latin typeface="Segoe UI"/>
              </a:rPr>
              <a:t>PERLUASAN BERTAHAP</a:t>
            </a:r>
          </a:p>
        </p:txBody>
      </p:sp>
      <p:sp>
        <p:nvSpPr>
          <p:cNvPr id="16" name="TextBox 15"/>
          <p:cNvSpPr txBox="1"/>
          <p:nvPr/>
        </p:nvSpPr>
        <p:spPr>
          <a:xfrm>
            <a:off x="6273800" y="2921000"/>
            <a:ext cx="50419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01 Magang</a:t>
            </a:r>
          </a:p>
        </p:txBody>
      </p:sp>
      <p:sp>
        <p:nvSpPr>
          <p:cNvPr id="17" name="TextBox 16"/>
          <p:cNvSpPr txBox="1"/>
          <p:nvPr/>
        </p:nvSpPr>
        <p:spPr>
          <a:xfrm>
            <a:off x="6273800" y="3352800"/>
            <a:ext cx="5054600" cy="242824"/>
          </a:xfrm>
          <a:prstGeom prst="rect">
            <a:avLst/>
          </a:prstGeom>
          <a:noFill/>
        </p:spPr>
        <p:txBody>
          <a:bodyPr wrap="none" lIns="0" rIns="0" tIns="0" bIns="0" anchor="t">
            <a:spAutoFit/>
          </a:bodyPr>
          <a:lstStyle/>
          <a:p>
            <a:pPr algn="l">
              <a:lnSpc>
                <a:spcPts val="1612"/>
              </a:lnSpc>
              <a:spcBef>
                <a:spcPts val="0"/>
              </a:spcBef>
              <a:spcAft>
                <a:spcPts val="0"/>
              </a:spcAft>
            </a:pPr>
            <a:r>
              <a:rPr sz="1300" b="0">
                <a:solidFill>
                  <a:srgbClr val="51666B"/>
                </a:solidFill>
                <a:latin typeface="Segoe UI"/>
              </a:rPr>
              <a:t>Mulai dari satu program studi atau departemen.</a:t>
            </a:r>
          </a:p>
        </p:txBody>
      </p:sp>
      <p:sp>
        <p:nvSpPr>
          <p:cNvPr id="18" name="TextBox 17"/>
          <p:cNvSpPr txBox="1"/>
          <p:nvPr/>
        </p:nvSpPr>
        <p:spPr>
          <a:xfrm>
            <a:off x="6273800" y="3873500"/>
            <a:ext cx="50419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02 Layanan tambahan</a:t>
            </a:r>
          </a:p>
        </p:txBody>
      </p:sp>
      <p:sp>
        <p:nvSpPr>
          <p:cNvPr id="19" name="TextBox 18"/>
          <p:cNvSpPr txBox="1"/>
          <p:nvPr/>
        </p:nvSpPr>
        <p:spPr>
          <a:xfrm>
            <a:off x="6273800" y="4305300"/>
            <a:ext cx="5054600" cy="242824"/>
          </a:xfrm>
          <a:prstGeom prst="rect">
            <a:avLst/>
          </a:prstGeom>
          <a:noFill/>
        </p:spPr>
        <p:txBody>
          <a:bodyPr wrap="none" lIns="0" rIns="0" tIns="0" bIns="0" anchor="t">
            <a:spAutoFit/>
          </a:bodyPr>
          <a:lstStyle/>
          <a:p>
            <a:pPr algn="l">
              <a:lnSpc>
                <a:spcPts val="1612"/>
              </a:lnSpc>
              <a:spcBef>
                <a:spcPts val="0"/>
              </a:spcBef>
              <a:spcAft>
                <a:spcPts val="0"/>
              </a:spcAft>
            </a:pPr>
            <a:r>
              <a:rPr sz="1300" b="0">
                <a:solidFill>
                  <a:srgbClr val="51666B"/>
                </a:solidFill>
                <a:latin typeface="Segoe UI"/>
              </a:rPr>
              <a:t>Surat aktif, cuti akademik, dan izin penelitian.</a:t>
            </a:r>
          </a:p>
        </p:txBody>
      </p:sp>
      <p:sp>
        <p:nvSpPr>
          <p:cNvPr id="20" name="TextBox 19"/>
          <p:cNvSpPr txBox="1"/>
          <p:nvPr/>
        </p:nvSpPr>
        <p:spPr>
          <a:xfrm>
            <a:off x="6273800" y="4826000"/>
            <a:ext cx="50419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102D36"/>
                </a:solidFill>
                <a:latin typeface="Segoe UI"/>
              </a:rPr>
              <a:t>03 Institusi lain</a:t>
            </a:r>
          </a:p>
        </p:txBody>
      </p:sp>
      <p:sp>
        <p:nvSpPr>
          <p:cNvPr id="21" name="TextBox 20"/>
          <p:cNvSpPr txBox="1"/>
          <p:nvPr/>
        </p:nvSpPr>
        <p:spPr>
          <a:xfrm>
            <a:off x="6273800" y="5257800"/>
            <a:ext cx="5054600" cy="242824"/>
          </a:xfrm>
          <a:prstGeom prst="rect">
            <a:avLst/>
          </a:prstGeom>
          <a:noFill/>
        </p:spPr>
        <p:txBody>
          <a:bodyPr wrap="none" lIns="0" rIns="0" tIns="0" bIns="0" anchor="t">
            <a:spAutoFit/>
          </a:bodyPr>
          <a:lstStyle/>
          <a:p>
            <a:pPr algn="l">
              <a:lnSpc>
                <a:spcPts val="1612"/>
              </a:lnSpc>
              <a:spcBef>
                <a:spcPts val="0"/>
              </a:spcBef>
              <a:spcAft>
                <a:spcPts val="0"/>
              </a:spcAft>
            </a:pPr>
            <a:r>
              <a:rPr sz="1300" b="0">
                <a:solidFill>
                  <a:srgbClr val="51666B"/>
                </a:solidFill>
                <a:latin typeface="Segoe UI"/>
              </a:rPr>
              <a:t>Data dan aturan terpisah untuk setiap kampus.</a:t>
            </a:r>
          </a:p>
        </p:txBody>
      </p:sp>
      <p:sp>
        <p:nvSpPr>
          <p:cNvPr id="22" name="TextBox 21"/>
          <p:cNvSpPr txBox="1"/>
          <p:nvPr/>
        </p:nvSpPr>
        <p:spPr>
          <a:xfrm>
            <a:off x="609600" y="5842000"/>
            <a:ext cx="10972800" cy="227076"/>
          </a:xfrm>
          <a:prstGeom prst="rect">
            <a:avLst/>
          </a:prstGeom>
          <a:noFill/>
        </p:spPr>
        <p:txBody>
          <a:bodyPr wrap="none" lIns="0" rIns="0" tIns="0" bIns="0" anchor="t">
            <a:spAutoFit/>
          </a:bodyPr>
          <a:lstStyle/>
          <a:p>
            <a:pPr algn="ctr">
              <a:lnSpc>
                <a:spcPts val="1488"/>
              </a:lnSpc>
              <a:spcBef>
                <a:spcPts val="0"/>
              </a:spcBef>
              <a:spcAft>
                <a:spcPts val="0"/>
              </a:spcAft>
            </a:pPr>
            <a:r>
              <a:rPr sz="1200" b="0">
                <a:solidFill>
                  <a:srgbClr val="51666B"/>
                </a:solidFill>
                <a:latin typeface="Segoe UI"/>
              </a:rPr>
              <a:t>Biaya AI, kebutuhan dukungan, dan kesediaan membayar menjadi dasar validasi bisnis.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D36"/>
        </a:solidFill>
        <a:effectLst/>
      </p:bgPr>
    </p:bg>
    <p:spTree>
      <p:nvGrpSpPr>
        <p:cNvPr id="1" name=""/>
        <p:cNvGrpSpPr/>
        <p:nvPr/>
      </p:nvGrpSpPr>
      <p:grpSpPr/>
      <p:sp>
        <p:nvSpPr>
          <p:cNvPr id="2" name="TextBox 1"/>
          <p:cNvSpPr txBox="1"/>
          <p:nvPr/>
        </p:nvSpPr>
        <p:spPr>
          <a:xfrm>
            <a:off x="609600" y="304800"/>
            <a:ext cx="1524000" cy="227076"/>
          </a:xfrm>
          <a:prstGeom prst="rect">
            <a:avLst/>
          </a:prstGeom>
          <a:noFill/>
        </p:spPr>
        <p:txBody>
          <a:bodyPr wrap="none" lIns="0" rIns="0" tIns="0" bIns="0" anchor="t">
            <a:spAutoFit/>
          </a:bodyPr>
          <a:lstStyle/>
          <a:p>
            <a:pPr algn="l">
              <a:lnSpc>
                <a:spcPts val="1488"/>
              </a:lnSpc>
              <a:spcBef>
                <a:spcPts val="0"/>
              </a:spcBef>
              <a:spcAft>
                <a:spcPts val="0"/>
              </a:spcAft>
            </a:pPr>
            <a:r>
              <a:rPr sz="1200" b="1">
                <a:solidFill>
                  <a:srgbClr val="FFFFFF"/>
                </a:solidFill>
                <a:latin typeface="Segoe UI"/>
              </a:rPr>
              <a:t>FLOWFIX</a:t>
            </a:r>
          </a:p>
        </p:txBody>
      </p:sp>
      <p:sp>
        <p:nvSpPr>
          <p:cNvPr id="3" name="TextBox 2"/>
          <p:cNvSpPr txBox="1"/>
          <p:nvPr/>
        </p:nvSpPr>
        <p:spPr>
          <a:xfrm>
            <a:off x="8318500" y="317500"/>
            <a:ext cx="3263900" cy="195580"/>
          </a:xfrm>
          <a:prstGeom prst="rect">
            <a:avLst/>
          </a:prstGeom>
          <a:noFill/>
        </p:spPr>
        <p:txBody>
          <a:bodyPr wrap="none" lIns="0" rIns="0" tIns="0" bIns="0" anchor="t">
            <a:spAutoFit/>
          </a:bodyPr>
          <a:lstStyle/>
          <a:p>
            <a:pPr algn="ctr">
              <a:lnSpc>
                <a:spcPts val="1240"/>
              </a:lnSpc>
              <a:spcBef>
                <a:spcPts val="0"/>
              </a:spcBef>
              <a:spcAft>
                <a:spcPts val="0"/>
              </a:spcAft>
            </a:pPr>
            <a:r>
              <a:rPr sz="1000" b="1">
                <a:solidFill>
                  <a:srgbClr val="D4F36B"/>
                </a:solidFill>
                <a:latin typeface="Segoe UI"/>
              </a:rPr>
              <a:t>ARAH PENGEMBANGAN</a:t>
            </a:r>
          </a:p>
        </p:txBody>
      </p:sp>
      <p:cxnSp>
        <p:nvCxnSpPr>
          <p:cNvPr id="4" name="Connector 3"/>
          <p:cNvCxnSpPr/>
          <p:nvPr/>
        </p:nvCxnSpPr>
        <p:spPr>
          <a:xfrm>
            <a:off x="609600" y="6261100"/>
            <a:ext cx="10972800" cy="0"/>
          </a:xfrm>
          <a:prstGeom prst="line">
            <a:avLst/>
          </a:prstGeom>
          <a:ln w="12700">
            <a:solidFill>
              <a:srgbClr val="36535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6451600"/>
            <a:ext cx="8890000" cy="179832"/>
          </a:xfrm>
          <a:prstGeom prst="rect">
            <a:avLst/>
          </a:prstGeom>
          <a:noFill/>
        </p:spPr>
        <p:txBody>
          <a:bodyPr wrap="none" lIns="0" rIns="0" tIns="0" bIns="0" anchor="t">
            <a:spAutoFit/>
          </a:bodyPr>
          <a:lstStyle/>
          <a:p>
            <a:pPr algn="l">
              <a:lnSpc>
                <a:spcPts val="1116"/>
              </a:lnSpc>
              <a:spcBef>
                <a:spcPts val="0"/>
              </a:spcBef>
              <a:spcAft>
                <a:spcPts val="0"/>
              </a:spcAft>
            </a:pPr>
            <a:r>
              <a:rPr sz="900" b="0">
                <a:solidFill>
                  <a:srgbClr val="A9C0C2"/>
                </a:solidFill>
                <a:latin typeface="Segoe UI"/>
              </a:rPr>
              <a:t>IDE AWAL HACKATHON • RANCANGAN SOLUSI</a:t>
            </a:r>
          </a:p>
        </p:txBody>
      </p:sp>
      <p:sp>
        <p:nvSpPr>
          <p:cNvPr id="6" name="TextBox 5"/>
          <p:cNvSpPr txBox="1"/>
          <p:nvPr/>
        </p:nvSpPr>
        <p:spPr>
          <a:xfrm>
            <a:off x="10795000" y="6413500"/>
            <a:ext cx="787400" cy="211328"/>
          </a:xfrm>
          <a:prstGeom prst="rect">
            <a:avLst/>
          </a:prstGeom>
          <a:noFill/>
        </p:spPr>
        <p:txBody>
          <a:bodyPr wrap="none" lIns="0" rIns="0" tIns="0" bIns="0" anchor="t">
            <a:spAutoFit/>
          </a:bodyPr>
          <a:lstStyle/>
          <a:p>
            <a:pPr algn="ctr">
              <a:lnSpc>
                <a:spcPts val="1364"/>
              </a:lnSpc>
              <a:spcBef>
                <a:spcPts val="0"/>
              </a:spcBef>
              <a:spcAft>
                <a:spcPts val="0"/>
              </a:spcAft>
            </a:pPr>
            <a:r>
              <a:rPr sz="1100" b="1">
                <a:solidFill>
                  <a:srgbClr val="FFFFFF"/>
                </a:solidFill>
                <a:latin typeface="Segoe UI"/>
              </a:rPr>
              <a:t>08 / 08</a:t>
            </a:r>
          </a:p>
        </p:txBody>
      </p:sp>
      <p:sp>
        <p:nvSpPr>
          <p:cNvPr id="7" name="TextBox 6"/>
          <p:cNvSpPr txBox="1"/>
          <p:nvPr/>
        </p:nvSpPr>
        <p:spPr>
          <a:xfrm>
            <a:off x="609600" y="965200"/>
            <a:ext cx="10985500" cy="1143000"/>
          </a:xfrm>
          <a:prstGeom prst="rect">
            <a:avLst/>
          </a:prstGeom>
          <a:noFill/>
        </p:spPr>
        <p:txBody>
          <a:bodyPr wrap="none" lIns="0" rIns="0" tIns="0" bIns="0" anchor="t">
            <a:spAutoFit/>
          </a:bodyPr>
          <a:lstStyle/>
          <a:p>
            <a:pPr algn="l">
              <a:lnSpc>
                <a:spcPts val="4216"/>
              </a:lnSpc>
              <a:spcBef>
                <a:spcPts val="0"/>
              </a:spcBef>
              <a:spcAft>
                <a:spcPts val="0"/>
              </a:spcAft>
            </a:pPr>
            <a:r>
              <a:rPr sz="3400" b="1">
                <a:solidFill>
                  <a:srgbClr val="FFFFFF"/>
                </a:solidFill>
                <a:latin typeface="Segoe UI"/>
              </a:rPr>
              <a:t>Mulai terfokus.</a:t>
            </a:r>
          </a:p>
          <a:p>
            <a:pPr algn="l">
              <a:lnSpc>
                <a:spcPts val="4216"/>
              </a:lnSpc>
              <a:spcBef>
                <a:spcPts val="0"/>
              </a:spcBef>
              <a:spcAft>
                <a:spcPts val="0"/>
              </a:spcAft>
            </a:pPr>
            <a:r>
              <a:rPr sz="3400" b="1">
                <a:solidFill>
                  <a:srgbClr val="FFFFFF"/>
                </a:solidFill>
                <a:latin typeface="Segoe UI"/>
              </a:rPr>
              <a:t>Validasi manfaat, lalu perluas.</a:t>
            </a:r>
          </a:p>
        </p:txBody>
      </p:sp>
      <p:sp>
        <p:nvSpPr>
          <p:cNvPr id="8" name="Rounded Rectangle 7"/>
          <p:cNvSpPr/>
          <p:nvPr/>
        </p:nvSpPr>
        <p:spPr>
          <a:xfrm>
            <a:off x="609600" y="2527300"/>
            <a:ext cx="3505200" cy="1981200"/>
          </a:xfrm>
          <a:prstGeom prst="roundRect">
            <a:avLst>
              <a:gd name="adj" fmla="val 7692"/>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600" y="2743200"/>
            <a:ext cx="673100" cy="447548"/>
          </a:xfrm>
          <a:prstGeom prst="rect">
            <a:avLst/>
          </a:prstGeom>
          <a:noFill/>
        </p:spPr>
        <p:txBody>
          <a:bodyPr wrap="none" lIns="0" rIns="0" tIns="0" bIns="0" anchor="t">
            <a:spAutoFit/>
          </a:bodyPr>
          <a:lstStyle/>
          <a:p>
            <a:pPr algn="l">
              <a:lnSpc>
                <a:spcPts val="3224"/>
              </a:lnSpc>
              <a:spcBef>
                <a:spcPts val="0"/>
              </a:spcBef>
              <a:spcAft>
                <a:spcPts val="0"/>
              </a:spcAft>
            </a:pPr>
            <a:r>
              <a:rPr sz="2600" b="1">
                <a:solidFill>
                  <a:srgbClr val="D4F36B"/>
                </a:solidFill>
                <a:latin typeface="Segoe UI"/>
              </a:rPr>
              <a:t>01</a:t>
            </a:r>
          </a:p>
        </p:txBody>
      </p:sp>
      <p:sp>
        <p:nvSpPr>
          <p:cNvPr id="10" name="TextBox 9"/>
          <p:cNvSpPr txBox="1"/>
          <p:nvPr/>
        </p:nvSpPr>
        <p:spPr>
          <a:xfrm>
            <a:off x="863600" y="3340100"/>
            <a:ext cx="29972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FFFFFF"/>
                </a:solidFill>
                <a:latin typeface="Segoe UI"/>
              </a:rPr>
              <a:t>Pahami masalah</a:t>
            </a:r>
          </a:p>
        </p:txBody>
      </p:sp>
      <p:sp>
        <p:nvSpPr>
          <p:cNvPr id="11" name="TextBox 10"/>
          <p:cNvSpPr txBox="1"/>
          <p:nvPr/>
        </p:nvSpPr>
        <p:spPr>
          <a:xfrm>
            <a:off x="863600" y="38354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BDD3D1"/>
                </a:solidFill>
                <a:latin typeface="Segoe UI"/>
              </a:rPr>
              <a:t>Wawancara mahasiswa,</a:t>
            </a:r>
          </a:p>
          <a:p>
            <a:pPr algn="l">
              <a:lnSpc>
                <a:spcPts val="1736"/>
              </a:lnSpc>
              <a:spcBef>
                <a:spcPts val="0"/>
              </a:spcBef>
              <a:spcAft>
                <a:spcPts val="0"/>
              </a:spcAft>
            </a:pPr>
            <a:r>
              <a:rPr sz="1400" b="0">
                <a:solidFill>
                  <a:srgbClr val="BDD3D1"/>
                </a:solidFill>
                <a:latin typeface="Segoe UI"/>
              </a:rPr>
              <a:t>peninjau, dan calon pembeli.</a:t>
            </a:r>
          </a:p>
        </p:txBody>
      </p:sp>
      <p:sp>
        <p:nvSpPr>
          <p:cNvPr id="12" name="Rounded Rectangle 11"/>
          <p:cNvSpPr/>
          <p:nvPr/>
        </p:nvSpPr>
        <p:spPr>
          <a:xfrm>
            <a:off x="4343400" y="2527300"/>
            <a:ext cx="3505200" cy="1981200"/>
          </a:xfrm>
          <a:prstGeom prst="roundRect">
            <a:avLst>
              <a:gd name="adj" fmla="val 7692"/>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400" y="2743200"/>
            <a:ext cx="673100" cy="447548"/>
          </a:xfrm>
          <a:prstGeom prst="rect">
            <a:avLst/>
          </a:prstGeom>
          <a:noFill/>
        </p:spPr>
        <p:txBody>
          <a:bodyPr wrap="none" lIns="0" rIns="0" tIns="0" bIns="0" anchor="t">
            <a:spAutoFit/>
          </a:bodyPr>
          <a:lstStyle/>
          <a:p>
            <a:pPr algn="l">
              <a:lnSpc>
                <a:spcPts val="3224"/>
              </a:lnSpc>
              <a:spcBef>
                <a:spcPts val="0"/>
              </a:spcBef>
              <a:spcAft>
                <a:spcPts val="0"/>
              </a:spcAft>
            </a:pPr>
            <a:r>
              <a:rPr sz="2600" b="1">
                <a:solidFill>
                  <a:srgbClr val="D4F36B"/>
                </a:solidFill>
                <a:latin typeface="Segoe UI"/>
              </a:rPr>
              <a:t>02</a:t>
            </a:r>
          </a:p>
        </p:txBody>
      </p:sp>
      <p:sp>
        <p:nvSpPr>
          <p:cNvPr id="14" name="TextBox 13"/>
          <p:cNvSpPr txBox="1"/>
          <p:nvPr/>
        </p:nvSpPr>
        <p:spPr>
          <a:xfrm>
            <a:off x="4597400" y="3340100"/>
            <a:ext cx="29972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FFFFFF"/>
                </a:solidFill>
                <a:latin typeface="Segoe UI"/>
              </a:rPr>
              <a:t>Bangun alur inti</a:t>
            </a:r>
          </a:p>
        </p:txBody>
      </p:sp>
      <p:sp>
        <p:nvSpPr>
          <p:cNvPr id="15" name="TextBox 14"/>
          <p:cNvSpPr txBox="1"/>
          <p:nvPr/>
        </p:nvSpPr>
        <p:spPr>
          <a:xfrm>
            <a:off x="4597400" y="38354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BDD3D1"/>
                </a:solidFill>
                <a:latin typeface="Segoe UI"/>
              </a:rPr>
              <a:t>Magang lengkap + satu</a:t>
            </a:r>
          </a:p>
          <a:p>
            <a:pPr algn="l">
              <a:lnSpc>
                <a:spcPts val="1736"/>
              </a:lnSpc>
              <a:spcBef>
                <a:spcPts val="0"/>
              </a:spcBef>
              <a:spcAft>
                <a:spcPts val="0"/>
              </a:spcAft>
            </a:pPr>
            <a:r>
              <a:rPr sz="1400" b="0">
                <a:solidFill>
                  <a:srgbClr val="BDD3D1"/>
                </a:solidFill>
                <a:latin typeface="Segoe UI"/>
              </a:rPr>
              <a:t>layanan sederhana.</a:t>
            </a:r>
          </a:p>
        </p:txBody>
      </p:sp>
      <p:sp>
        <p:nvSpPr>
          <p:cNvPr id="16" name="Rounded Rectangle 15"/>
          <p:cNvSpPr/>
          <p:nvPr/>
        </p:nvSpPr>
        <p:spPr>
          <a:xfrm>
            <a:off x="8077200" y="2527300"/>
            <a:ext cx="3505200" cy="1981200"/>
          </a:xfrm>
          <a:prstGeom prst="roundRect">
            <a:avLst>
              <a:gd name="adj" fmla="val 7692"/>
            </a:avLst>
          </a:prstGeom>
          <a:solidFill>
            <a:srgbClr val="1B4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1200" y="2743200"/>
            <a:ext cx="673100" cy="447548"/>
          </a:xfrm>
          <a:prstGeom prst="rect">
            <a:avLst/>
          </a:prstGeom>
          <a:noFill/>
        </p:spPr>
        <p:txBody>
          <a:bodyPr wrap="none" lIns="0" rIns="0" tIns="0" bIns="0" anchor="t">
            <a:spAutoFit/>
          </a:bodyPr>
          <a:lstStyle/>
          <a:p>
            <a:pPr algn="l">
              <a:lnSpc>
                <a:spcPts val="3224"/>
              </a:lnSpc>
              <a:spcBef>
                <a:spcPts val="0"/>
              </a:spcBef>
              <a:spcAft>
                <a:spcPts val="0"/>
              </a:spcAft>
            </a:pPr>
            <a:r>
              <a:rPr sz="2600" b="1">
                <a:solidFill>
                  <a:srgbClr val="D4F36B"/>
                </a:solidFill>
                <a:latin typeface="Segoe UI"/>
              </a:rPr>
              <a:t>03</a:t>
            </a:r>
          </a:p>
        </p:txBody>
      </p:sp>
      <p:sp>
        <p:nvSpPr>
          <p:cNvPr id="18" name="TextBox 17"/>
          <p:cNvSpPr txBox="1"/>
          <p:nvPr/>
        </p:nvSpPr>
        <p:spPr>
          <a:xfrm>
            <a:off x="8331200" y="3340100"/>
            <a:ext cx="2997200" cy="368808"/>
          </a:xfrm>
          <a:prstGeom prst="rect">
            <a:avLst/>
          </a:prstGeom>
          <a:noFill/>
        </p:spPr>
        <p:txBody>
          <a:bodyPr wrap="none" lIns="0" rIns="0" tIns="0" bIns="0" anchor="t">
            <a:spAutoFit/>
          </a:bodyPr>
          <a:lstStyle/>
          <a:p>
            <a:pPr algn="l">
              <a:lnSpc>
                <a:spcPts val="2604"/>
              </a:lnSpc>
              <a:spcBef>
                <a:spcPts val="0"/>
              </a:spcBef>
              <a:spcAft>
                <a:spcPts val="0"/>
              </a:spcAft>
            </a:pPr>
            <a:r>
              <a:rPr sz="2100" b="1">
                <a:solidFill>
                  <a:srgbClr val="FFFFFF"/>
                </a:solidFill>
                <a:latin typeface="Segoe UI"/>
              </a:rPr>
              <a:t>Uji &amp; sempurnakan</a:t>
            </a:r>
          </a:p>
        </p:txBody>
      </p:sp>
      <p:sp>
        <p:nvSpPr>
          <p:cNvPr id="19" name="TextBox 18"/>
          <p:cNvSpPr txBox="1"/>
          <p:nvPr/>
        </p:nvSpPr>
        <p:spPr>
          <a:xfrm>
            <a:off x="8331200" y="3835400"/>
            <a:ext cx="2997200" cy="479044"/>
          </a:xfrm>
          <a:prstGeom prst="rect">
            <a:avLst/>
          </a:prstGeom>
          <a:noFill/>
        </p:spPr>
        <p:txBody>
          <a:bodyPr wrap="none" lIns="0" rIns="0" tIns="0" bIns="0" anchor="t">
            <a:spAutoFit/>
          </a:bodyPr>
          <a:lstStyle/>
          <a:p>
            <a:pPr algn="l">
              <a:lnSpc>
                <a:spcPts val="1736"/>
              </a:lnSpc>
              <a:spcBef>
                <a:spcPts val="0"/>
              </a:spcBef>
              <a:spcAft>
                <a:spcPts val="0"/>
              </a:spcAft>
            </a:pPr>
            <a:r>
              <a:rPr sz="1400" b="0">
                <a:solidFill>
                  <a:srgbClr val="BDD3D1"/>
                </a:solidFill>
                <a:latin typeface="Segoe UI"/>
              </a:rPr>
              <a:t>Ukur dampak, ketepatan AI,</a:t>
            </a:r>
          </a:p>
          <a:p>
            <a:pPr algn="l">
              <a:lnSpc>
                <a:spcPts val="1736"/>
              </a:lnSpc>
              <a:spcBef>
                <a:spcPts val="0"/>
              </a:spcBef>
              <a:spcAft>
                <a:spcPts val="0"/>
              </a:spcAft>
            </a:pPr>
            <a:r>
              <a:rPr sz="1400" b="0">
                <a:solidFill>
                  <a:srgbClr val="BDD3D1"/>
                </a:solidFill>
                <a:latin typeface="Segoe UI"/>
              </a:rPr>
              <a:t>hak akses, dan aksesibilitas.</a:t>
            </a:r>
          </a:p>
        </p:txBody>
      </p:sp>
      <p:sp>
        <p:nvSpPr>
          <p:cNvPr id="20" name="TextBox 19"/>
          <p:cNvSpPr txBox="1"/>
          <p:nvPr/>
        </p:nvSpPr>
        <p:spPr>
          <a:xfrm>
            <a:off x="609600" y="4851400"/>
            <a:ext cx="2667000" cy="636524"/>
          </a:xfrm>
          <a:prstGeom prst="rect">
            <a:avLst/>
          </a:prstGeom>
          <a:noFill/>
        </p:spPr>
        <p:txBody>
          <a:bodyPr wrap="none" lIns="0" rIns="0" tIns="0" bIns="0" anchor="t">
            <a:spAutoFit/>
          </a:bodyPr>
          <a:lstStyle/>
          <a:p>
            <a:pPr algn="l">
              <a:lnSpc>
                <a:spcPts val="4712"/>
              </a:lnSpc>
              <a:spcBef>
                <a:spcPts val="0"/>
              </a:spcBef>
              <a:spcAft>
                <a:spcPts val="0"/>
              </a:spcAft>
            </a:pPr>
            <a:r>
              <a:rPr sz="3800" b="1">
                <a:solidFill>
                  <a:srgbClr val="FFFFFF"/>
                </a:solidFill>
                <a:latin typeface="Segoe UI"/>
              </a:rPr>
              <a:t>FlowFix</a:t>
            </a:r>
          </a:p>
        </p:txBody>
      </p:sp>
      <p:sp>
        <p:nvSpPr>
          <p:cNvPr id="21" name="TextBox 20"/>
          <p:cNvSpPr txBox="1"/>
          <p:nvPr/>
        </p:nvSpPr>
        <p:spPr>
          <a:xfrm>
            <a:off x="3733800" y="4864100"/>
            <a:ext cx="7721600" cy="825500"/>
          </a:xfrm>
          <a:prstGeom prst="rect">
            <a:avLst/>
          </a:prstGeom>
          <a:noFill/>
        </p:spPr>
        <p:txBody>
          <a:bodyPr wrap="none" lIns="0" rIns="0" tIns="0" bIns="0" anchor="t">
            <a:spAutoFit/>
          </a:bodyPr>
          <a:lstStyle/>
          <a:p>
            <a:pPr algn="l">
              <a:lnSpc>
                <a:spcPts val="3100"/>
              </a:lnSpc>
              <a:spcBef>
                <a:spcPts val="0"/>
              </a:spcBef>
              <a:spcAft>
                <a:spcPts val="0"/>
              </a:spcAft>
            </a:pPr>
            <a:r>
              <a:rPr sz="2500" b="1">
                <a:solidFill>
                  <a:srgbClr val="D4F36B"/>
                </a:solidFill>
                <a:latin typeface="Segoe UI"/>
              </a:rPr>
              <a:t>Cegah kesalahan. Perjelas revisi.</a:t>
            </a:r>
          </a:p>
          <a:p>
            <a:pPr algn="l">
              <a:lnSpc>
                <a:spcPts val="3100"/>
              </a:lnSpc>
              <a:spcBef>
                <a:spcPts val="0"/>
              </a:spcBef>
              <a:spcAft>
                <a:spcPts val="0"/>
              </a:spcAft>
            </a:pPr>
            <a:r>
              <a:rPr sz="2500" b="1">
                <a:solidFill>
                  <a:srgbClr val="D4F36B"/>
                </a:solidFill>
                <a:latin typeface="Segoe UI"/>
              </a:rPr>
              <a:t>Bantu pengguna menyelesaikan proses.</a:t>
            </a:r>
          </a:p>
        </p:txBody>
      </p:sp>
      <p:sp>
        <p:nvSpPr>
          <p:cNvPr id="22" name="TextBox 21"/>
          <p:cNvSpPr txBox="1"/>
          <p:nvPr/>
        </p:nvSpPr>
        <p:spPr>
          <a:xfrm>
            <a:off x="609600" y="5854700"/>
            <a:ext cx="10972800" cy="227076"/>
          </a:xfrm>
          <a:prstGeom prst="rect">
            <a:avLst/>
          </a:prstGeom>
          <a:noFill/>
        </p:spPr>
        <p:txBody>
          <a:bodyPr wrap="none" lIns="0" rIns="0" tIns="0" bIns="0" anchor="t">
            <a:spAutoFit/>
          </a:bodyPr>
          <a:lstStyle/>
          <a:p>
            <a:pPr algn="ctr">
              <a:lnSpc>
                <a:spcPts val="1488"/>
              </a:lnSpc>
              <a:spcBef>
                <a:spcPts val="0"/>
              </a:spcBef>
              <a:spcAft>
                <a:spcPts val="0"/>
              </a:spcAft>
            </a:pPr>
            <a:r>
              <a:rPr sz="1200" b="0">
                <a:solidFill>
                  <a:srgbClr val="BDD3D1"/>
                </a:solidFill>
                <a:latin typeface="Segoe UI"/>
              </a:rPr>
              <a:t>Tahap saat ini: ide awal. Langkah berikutnya: validasi masalah bersama calon pengguna.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FlowFix — Pitch Deck Ide Awal</dc:title>
  <dc:subject>Administrasi kampus berbantuan AI</dc:subject>
  <dc:creator>FlowFix</dc:creator>
  <cp:keywords>FlowFix, hackathon, ide awal, Langflow, IBM Bob</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